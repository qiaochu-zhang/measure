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2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29dacd0893409d" /><Relationship Type="http://schemas.openxmlformats.org/officeDocument/2006/relationships/extended-properties" Target="/docProps/app.xml" Id="R9d1a90156e5a4178" /><Relationship Type="http://schemas.openxmlformats.org/officeDocument/2006/relationships/officeDocument" Target="/ppt/presentation.xml" Id="R3f37c9038f104b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2d0f2171c445df"/>
  </p:sldMasterIdLst>
  <p:notesMasterIdLst>
    <p:notesMasterId xmlns:r="http://schemas.openxmlformats.org/officeDocument/2006/relationships" r:id="Rb0a0c44ef3b649c1"/>
  </p:notesMasterIdLst>
  <p:sldIdLst>
    <p:sldId xmlns:r="http://schemas.openxmlformats.org/officeDocument/2006/relationships" id="256" r:id="Rb0e1bee6296c4ca7"/>
    <p:sldId xmlns:r="http://schemas.openxmlformats.org/officeDocument/2006/relationships" id="257" r:id="R0b6a7d3314d94659"/>
    <p:sldId xmlns:r="http://schemas.openxmlformats.org/officeDocument/2006/relationships" id="258" r:id="R3fe7fd4c89fb466b"/>
    <p:sldId xmlns:r="http://schemas.openxmlformats.org/officeDocument/2006/relationships" id="259" r:id="Rcea857ca0ef44705"/>
    <p:sldId xmlns:r="http://schemas.openxmlformats.org/officeDocument/2006/relationships" id="260" r:id="Rb084ce254b45460c"/>
    <p:sldId xmlns:r="http://schemas.openxmlformats.org/officeDocument/2006/relationships" id="261" r:id="R08125a72199b40c2"/>
    <p:sldId xmlns:r="http://schemas.openxmlformats.org/officeDocument/2006/relationships" id="262" r:id="R81ba159372e943e1"/>
    <p:sldId xmlns:r="http://schemas.openxmlformats.org/officeDocument/2006/relationships" id="263" r:id="Rf93c630c1afe48fd"/>
    <p:sldId xmlns:r="http://schemas.openxmlformats.org/officeDocument/2006/relationships" id="264" r:id="R04ba9452bdee49da"/>
    <p:sldId xmlns:r="http://schemas.openxmlformats.org/officeDocument/2006/relationships" id="265" r:id="Rb123ad594e2c4046"/>
    <p:sldId xmlns:r="http://schemas.openxmlformats.org/officeDocument/2006/relationships" id="266" r:id="Rc802c6ef04a84640"/>
    <p:sldId xmlns:r="http://schemas.openxmlformats.org/officeDocument/2006/relationships" id="267" r:id="R54e51ffdf0604311"/>
    <p:sldId xmlns:r="http://schemas.openxmlformats.org/officeDocument/2006/relationships" id="268" r:id="Re2dfb608db464e73"/>
    <p:sldId xmlns:r="http://schemas.openxmlformats.org/officeDocument/2006/relationships" id="269" r:id="R0d36dbd6b38f403d"/>
    <p:sldId xmlns:r="http://schemas.openxmlformats.org/officeDocument/2006/relationships" id="270" r:id="R77da26601f1d4ca2"/>
    <p:sldId xmlns:r="http://schemas.openxmlformats.org/officeDocument/2006/relationships" id="271" r:id="R75de839409c04476"/>
    <p:sldId xmlns:r="http://schemas.openxmlformats.org/officeDocument/2006/relationships" id="272" r:id="R0955fa5d24144936"/>
    <p:sldId xmlns:r="http://schemas.openxmlformats.org/officeDocument/2006/relationships" id="273" r:id="R939ee4ba94d246d1"/>
    <p:sldId xmlns:r="http://schemas.openxmlformats.org/officeDocument/2006/relationships" id="274" r:id="Rbb4adb7009b24570"/>
    <p:sldId xmlns:r="http://schemas.openxmlformats.org/officeDocument/2006/relationships" id="275" r:id="Rad1de3ca2bb243b4"/>
    <p:sldId xmlns:r="http://schemas.openxmlformats.org/officeDocument/2006/relationships" id="276" r:id="R2ca3408def9d4dbf"/>
    <p:sldId xmlns:r="http://schemas.openxmlformats.org/officeDocument/2006/relationships" id="277" r:id="R28a2629a82c14a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ff3d0cf90f44f0" /><Relationship Type="http://schemas.openxmlformats.org/officeDocument/2006/relationships/slideMaster" Target="/ppt/slideMasters/slideMaster1.xml" Id="R642d0f2171c445df" /><Relationship Type="http://schemas.openxmlformats.org/officeDocument/2006/relationships/notesMaster" Target="/ppt/notesMasters/notesMaster1.xml" Id="Rb0a0c44ef3b649c1" /><Relationship Type="http://schemas.openxmlformats.org/officeDocument/2006/relationships/presProps" Target="/ppt/presProps.xml" Id="R8559ae2aa72d4230" /><Relationship Type="http://schemas.openxmlformats.org/officeDocument/2006/relationships/tableStyles" Target="/ppt/tableStyles.xml" Id="R1019a74822534092" /><Relationship Type="http://schemas.openxmlformats.org/officeDocument/2006/relationships/slide" Target="/ppt/slides/slide1.xml" Id="Rb0e1bee6296c4ca7" /><Relationship Type="http://schemas.openxmlformats.org/officeDocument/2006/relationships/slide" Target="/ppt/slides/slide2.xml" Id="R0b6a7d3314d94659" /><Relationship Type="http://schemas.openxmlformats.org/officeDocument/2006/relationships/slide" Target="/ppt/slides/slide3.xml" Id="R3fe7fd4c89fb466b" /><Relationship Type="http://schemas.openxmlformats.org/officeDocument/2006/relationships/slide" Target="/ppt/slides/slide4.xml" Id="Rcea857ca0ef44705" /><Relationship Type="http://schemas.openxmlformats.org/officeDocument/2006/relationships/slide" Target="/ppt/slides/slide5.xml" Id="Rb084ce254b45460c" /><Relationship Type="http://schemas.openxmlformats.org/officeDocument/2006/relationships/slide" Target="/ppt/slides/slide6.xml" Id="R08125a72199b40c2" /><Relationship Type="http://schemas.openxmlformats.org/officeDocument/2006/relationships/slide" Target="/ppt/slides/slide7.xml" Id="R81ba159372e943e1" /><Relationship Type="http://schemas.openxmlformats.org/officeDocument/2006/relationships/slide" Target="/ppt/slides/slide8.xml" Id="Rf93c630c1afe48fd" /><Relationship Type="http://schemas.openxmlformats.org/officeDocument/2006/relationships/slide" Target="/ppt/slides/slide9.xml" Id="R04ba9452bdee49da" /><Relationship Type="http://schemas.openxmlformats.org/officeDocument/2006/relationships/slide" Target="/ppt/slides/slide10.xml" Id="Rb123ad594e2c4046" /><Relationship Type="http://schemas.openxmlformats.org/officeDocument/2006/relationships/slide" Target="/ppt/slides/slide11.xml" Id="Rc802c6ef04a84640" /><Relationship Type="http://schemas.openxmlformats.org/officeDocument/2006/relationships/slide" Target="/ppt/slides/slide12.xml" Id="R54e51ffdf0604311" /><Relationship Type="http://schemas.openxmlformats.org/officeDocument/2006/relationships/slide" Target="/ppt/slides/slide13.xml" Id="Re2dfb608db464e73" /><Relationship Type="http://schemas.openxmlformats.org/officeDocument/2006/relationships/slide" Target="/ppt/slides/slide14.xml" Id="R0d36dbd6b38f403d" /><Relationship Type="http://schemas.openxmlformats.org/officeDocument/2006/relationships/slide" Target="/ppt/slides/slide15.xml" Id="R77da26601f1d4ca2" /><Relationship Type="http://schemas.openxmlformats.org/officeDocument/2006/relationships/slide" Target="/ppt/slides/slide16.xml" Id="R75de839409c04476" /><Relationship Type="http://schemas.openxmlformats.org/officeDocument/2006/relationships/slide" Target="/ppt/slides/slide17.xml" Id="R0955fa5d24144936" /><Relationship Type="http://schemas.openxmlformats.org/officeDocument/2006/relationships/slide" Target="/ppt/slides/slide18.xml" Id="R939ee4ba94d246d1" /><Relationship Type="http://schemas.openxmlformats.org/officeDocument/2006/relationships/slide" Target="/ppt/slides/slide19.xml" Id="Rbb4adb7009b24570" /><Relationship Type="http://schemas.openxmlformats.org/officeDocument/2006/relationships/slide" Target="/ppt/slides/slide20.xml" Id="Rad1de3ca2bb243b4" /><Relationship Type="http://schemas.openxmlformats.org/officeDocument/2006/relationships/slide" Target="/ppt/slides/slide21.xml" Id="R2ca3408def9d4dbf" /><Relationship Type="http://schemas.openxmlformats.org/officeDocument/2006/relationships/slide" Target="/ppt/slides/slide22.xml" Id="R28a2629a82c14a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b8c732a7a74c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01c16e814a4cca" /><Relationship Type="http://schemas.openxmlformats.org/officeDocument/2006/relationships/notesMaster" Target="/ppt/notesMasters/notesMaster1.xml" Id="Rd7563b97f0584a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4d2c1e3f0640e0" /><Relationship Type="http://schemas.openxmlformats.org/officeDocument/2006/relationships/notesMaster" Target="/ppt/notesMasters/notesMaster1.xml" Id="R3628cd6f137349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c91a19507a48c6" /><Relationship Type="http://schemas.openxmlformats.org/officeDocument/2006/relationships/notesMaster" Target="/ppt/notesMasters/notesMaster1.xml" Id="R2c3b96e1450c49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d6aa62b8fc4eaf" /><Relationship Type="http://schemas.openxmlformats.org/officeDocument/2006/relationships/notesMaster" Target="/ppt/notesMasters/notesMaster1.xml" Id="R68bcd4b3f17545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484bae0d5f43c7" /><Relationship Type="http://schemas.openxmlformats.org/officeDocument/2006/relationships/notesMaster" Target="/ppt/notesMasters/notesMaster1.xml" Id="Re1b9d0487b154a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6cf33cdb7a4b00" /><Relationship Type="http://schemas.openxmlformats.org/officeDocument/2006/relationships/notesMaster" Target="/ppt/notesMasters/notesMaster1.xml" Id="R7e01e43d3e5440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924e8a6ec84898" /><Relationship Type="http://schemas.openxmlformats.org/officeDocument/2006/relationships/notesMaster" Target="/ppt/notesMasters/notesMaster1.xml" Id="R7cdf2577267e4d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9fdc37a3c7439b" /><Relationship Type="http://schemas.openxmlformats.org/officeDocument/2006/relationships/notesMaster" Target="/ppt/notesMasters/notesMaster1.xml" Id="R24c8c2c80d5747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d3bbd4751940b4" /><Relationship Type="http://schemas.openxmlformats.org/officeDocument/2006/relationships/notesMaster" Target="/ppt/notesMasters/notesMaster1.xml" Id="Rd6ea28864cfd43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5493a3a66e4e99" /><Relationship Type="http://schemas.openxmlformats.org/officeDocument/2006/relationships/notesMaster" Target="/ppt/notesMasters/notesMaster1.xml" Id="Re4e33d8a7fdd49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7f630fe0c3411f" /><Relationship Type="http://schemas.openxmlformats.org/officeDocument/2006/relationships/notesMaster" Target="/ppt/notesMasters/notesMaster1.xml" Id="Rbc2ac8bb6540482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e0452f5ef6c413f" /><Relationship Type="http://schemas.openxmlformats.org/officeDocument/2006/relationships/notesMaster" Target="/ppt/notesMasters/notesMaster1.xml" Id="Redd1fe4615d648d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20dc6e0caf544f2" /><Relationship Type="http://schemas.openxmlformats.org/officeDocument/2006/relationships/notesMaster" Target="/ppt/notesMasters/notesMaster1.xml" Id="R1734b2e54c1b411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c2731294515489f" /><Relationship Type="http://schemas.openxmlformats.org/officeDocument/2006/relationships/notesMaster" Target="/ppt/notesMasters/notesMaster1.xml" Id="R0dc5544f3a27400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f44833af97b47a9" /><Relationship Type="http://schemas.openxmlformats.org/officeDocument/2006/relationships/notesMaster" Target="/ppt/notesMasters/notesMaster1.xml" Id="R7085ceb68b944ee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a06b9b94bac40c3" /><Relationship Type="http://schemas.openxmlformats.org/officeDocument/2006/relationships/notesMaster" Target="/ppt/notesMasters/notesMaster1.xml" Id="R687255ef78fd4d2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3e26e193d464195" /><Relationship Type="http://schemas.openxmlformats.org/officeDocument/2006/relationships/notesMaster" Target="/ppt/notesMasters/notesMaster1.xml" Id="Ra1fd7301bcb34c8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164acce201e4278" /><Relationship Type="http://schemas.openxmlformats.org/officeDocument/2006/relationships/notesMaster" Target="/ppt/notesMasters/notesMaster1.xml" Id="Rc687ab2e6cee405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49178538dce466c" /><Relationship Type="http://schemas.openxmlformats.org/officeDocument/2006/relationships/notesMaster" Target="/ppt/notesMasters/notesMaster1.xml" Id="R9d8ca947ff4f497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a61ad0577064978" /><Relationship Type="http://schemas.openxmlformats.org/officeDocument/2006/relationships/notesMaster" Target="/ppt/notesMasters/notesMaster1.xml" Id="R70a274236b304e7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0c4c30f0dfc40bc" /><Relationship Type="http://schemas.openxmlformats.org/officeDocument/2006/relationships/notesMaster" Target="/ppt/notesMasters/notesMaster1.xml" Id="Rb4afc0aff1d6423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94cb9eaabc844d5" /><Relationship Type="http://schemas.openxmlformats.org/officeDocument/2006/relationships/notesMaster" Target="/ppt/notesMasters/notesMaster1.xml" Id="Rc97a72eeeb0d4c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开场提示：这不是一堂算法课。目标是建立共同语言，判断哪些科研任务值得交给AI，哪些必须由研究者承担。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讲解提示：先让听众回想最近一次写报告、处理图像或查文献，哪些步骤重复、耗时而且容易验证。把讨论从“AI会不会替代人”拉回到科研流程。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讲解提示：当前热度最高的是大语言模型，因为语言、代码和文档是几乎所有行业的共同接口。机器人和科学模型解决的是不同问题，不能简单用聊天能力替代。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讲解提示：不要陷入神经网络细节。只强调两点：一是模型通过预测任务学习统计结构，二是语言流畅性与事实正确性不是同一件事。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讲解提示：科研智能体的关键不是拟人化，而是能否访问可靠工具、获得反馈并在失败后修正。越能被机器检查的任务，越适合形成闭环。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资料来源：Levels of AGI: Operationalizing Progress on the Path to AGI, arXiv:2311.02462，https://arxiv.org/abs/2311.02462</a:t>
            </a:r>
          </a:p>
          <a:p xmlns:a="http://schemas.openxmlformats.org/drawingml/2006/main">
            <a:r>
              <a:t>讲解提示：AGI没有全球统一的单一测试。讨论时先问，对方说的是任务广度、能力水平，还是自主执行。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资料来源：Geoffrey Hinton访谈，The Guardian，2024-12-27，https://www.theguardian.com/technology/2024/dec/27/godfather-of-ai-raises-odds-of-the-technology-wiping-out-humanity-over-next-30-years；Demis Hassabis访谈，Queens’ College Cambridge，2025，https://www.queens.cam.ac.uk/about-us/news-events/the-future-of-ai-and-scientific-discovery-an-interview-with-sir-demis-hassabis-1994-honorary-fellow-fellow-benefactor/；David Baker Nobel Prize podcast，https://www.nobelprize.org/prizes/chemistry/2024/baker/471011-david-baker-podcast/；Yann LeCun，A Path Towards Autonomous Machine Intelligence，https://openreview.net/forum?id=BZ5a1r-kVsf。</a:t>
            </a:r>
          </a:p>
          <a:p xmlns:a="http://schemas.openxmlformats.org/drawingml/2006/main">
            <a:r>
              <a:t>讲解提示：这些观点不是简单的乐观或悲观。差异来自研究方向、风险偏好和对“理解”的定义。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资料来源：Yann LeCun，A Path Towards Autonomous Machine Intelligence，OpenReview，https://openreview.net/forum?id=BZ5a1r-kVsf；TIME访谈，2024，https://time.com/6694432/yann-lecun-meta-ai-interview/</a:t>
            </a:r>
          </a:p>
          <a:p xmlns:a="http://schemas.openxmlformats.org/drawingml/2006/main">
            <a:r>
              <a:t>讲解提示：LeCun并非否定AI，而是否定“只把LLM做大就会自然得到人类级智能”的路线。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讲解提示：真实世界有连续时间、噪声、摩擦、遮挡和不可逆后果。机器人需要感知、世界模型、规划、控制和安全约束同时成立。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资料来源：Google DeepMind，AI solves IMO problems at silver medal level，https://deepmind.google/blog/ai-solves-imo-problems-at-silver-medal-level/；Anthropic Economic Index，2025，https://www.anthropic.com/research/the-anthropic-economic-index</a:t>
            </a:r>
          </a:p>
          <a:p xmlns:a="http://schemas.openxmlformats.org/drawingml/2006/main">
            <a:r>
              <a:t>讲解提示：进展快往往不是因为领域更“高级”，而是反馈更密、验证更自动、试错更便宜。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讲解提示：当前收入和使用量更集中在代码、办公和知识工作。科学和机器人潜力大，但从技术演示到稳定商业价值还要经过数据、验证、工作流和责任体系。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资料来源：Anthropic Economic Index，2025，https://www.anthropic.com/research/the-anthropic-economic-index；OpenAI，How people are using ChatGPT，2025-09-15，https://openai.com/index/how-people-are-using-chatgpt/</a:t>
            </a:r>
          </a:p>
          <a:p xmlns:a="http://schemas.openxmlformats.org/drawingml/2006/main">
            <a:r>
              <a:t>口径提醒：Anthropic数据来自Claude.ai工作相关对话，且Claude在编程场景中定位较强，不能外推为整个AI产业。OpenAI消费者研究称约30%使用与工作相关，约70%为非工作使用。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资料来源：Google DeepMind科学研究概览，包括AlphaFold、WeatherNext、AlphaEvolve等，https://deepmind.google/discover/blog/；讲解提示：AI最成熟的科学价值目前集中在预测、识别和模拟加速。自主实验正在发展，但不是把聊天模型直接接到设备上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资料来源：Anthropic官方公告，2025-09-02，https://www.anthropic.com/news/anthropic-raises-series-f-at-usd183b-post-money-valuation。公告称Series F融资130亿美元，投后估值1830亿美元，并披露超过30万家企业客户和超过50亿美元收入运行率。这些数字为公司自报。</a:t>
            </a:r>
          </a:p>
          <a:p xmlns:a="http://schemas.openxmlformats.org/drawingml/2006/main">
            <a:r>
              <a:t>讲解提示：高估值反映未来现金流、战略稀缺性和资本竞争，不代表已实现同等价值。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资料来源：Reuters转述Financial Times报道，2026-09-18，https://www.reuters.com/technology/openai-expects-burn-through-almost-280-billion-by-2030-ft-reports-2026-09-18/。该报道为预测而非已发生支出。</a:t>
            </a:r>
          </a:p>
          <a:p xmlns:a="http://schemas.openxmlformats.org/drawingml/2006/main">
            <a:r>
              <a:t>讲解提示：前沿实验室同时像在造一台新型科研仪器，又在为每个用户承担“每次测量”的运行费。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讲解提示：这是一种投资逻辑，不是事实保证。投资人愿意承受早期亏损，是因为他们预期能力、分发和数据的正反馈会形成少数平台型赢家。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讲解提示：数字化程度决定AI能否接触任务，验证难度决定错误是否能及时暴露。最危险的是模型输出看似合理，但没有快速、客观的验收办法。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讲解提示：AI不是独立作者或责任主体。科研诚信、伦理审批、数据合规和结论有效性仍由研究者与机构承担。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讲解提示：左侧为示意图。这是典型的高价值切入点。任务数字化、批量、可用人工标定样本验证。要保留原图、参数、版本和失败样本。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讲解提示：图中数据为示意。贝叶斯优化适合单次实验昂贵、参数维度不太高、目标可量化的场景。研究者仍要定义可行域、约束、目标函数和停止条件。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讲解提示：现场可以把听众的一项真实任务套进这五步。让模型先复述理解、列出假设和缺失信息，再开始执行。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收束提示：建议每个团队选择一个两周内可评估的任务，例如文献证据表、图像批处理或数据质检。先建立验收标准，再比较时间、质量和可追溯性。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6c730005a54f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3465595ea44c93" /><Relationship Type="http://schemas.openxmlformats.org/officeDocument/2006/relationships/slideLayout" Target="/ppt/slideLayouts/slideLayout1.xml" Id="Rc60f3a8274b145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0f3a8274b145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270d3c2554a4a" /><Relationship Type="http://schemas.openxmlformats.org/officeDocument/2006/relationships/notesSlide" Target="/ppt/notesSlides/notesSlide1.xml" Id="R9d9f94285bd342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299a7d7244275" /><Relationship Type="http://schemas.openxmlformats.org/officeDocument/2006/relationships/notesSlide" Target="/ppt/notesSlides/notesSlide2.xml" Id="Rfbb13eebc6f249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3b5e81bf94944" /><Relationship Type="http://schemas.openxmlformats.org/officeDocument/2006/relationships/notesSlide" Target="/ppt/notesSlides/notesSlide3.xml" Id="Rc4d4a988ebf54d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f0cb958014167" /><Relationship Type="http://schemas.openxmlformats.org/officeDocument/2006/relationships/notesSlide" Target="/ppt/notesSlides/notesSlide4.xml" Id="R36e02f960e5f4c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ae74656db4824" /><Relationship Type="http://schemas.openxmlformats.org/officeDocument/2006/relationships/notesSlide" Target="/ppt/notesSlides/notesSlide5.xml" Id="Re9ec8a5cd78d45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d814b1c674351" /><Relationship Type="http://schemas.openxmlformats.org/officeDocument/2006/relationships/notesSlide" Target="/ppt/notesSlides/notesSlide6.xml" Id="Rc80613e1afe64c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547431ddc4814" /><Relationship Type="http://schemas.openxmlformats.org/officeDocument/2006/relationships/notesSlide" Target="/ppt/notesSlides/notesSlide7.xml" Id="Rf256651e19364a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590667abf4560" /><Relationship Type="http://schemas.openxmlformats.org/officeDocument/2006/relationships/notesSlide" Target="/ppt/notesSlides/notesSlide8.xml" Id="R36e699d9a7cf44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eb425e68c45fb" /><Relationship Type="http://schemas.openxmlformats.org/officeDocument/2006/relationships/notesSlide" Target="/ppt/notesSlides/notesSlide9.xml" Id="R771fd2cf763641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1c43eef5a4004" /><Relationship Type="http://schemas.openxmlformats.org/officeDocument/2006/relationships/notesSlide" Target="/ppt/notesSlides/notesSlide10.xml" Id="Rdf7b973377f94a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0a474a4494e84" /><Relationship Type="http://schemas.openxmlformats.org/officeDocument/2006/relationships/notesSlide" Target="/ppt/notesSlides/notesSlide11.xml" Id="R8bafdce662f845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3286014d04530" /><Relationship Type="http://schemas.openxmlformats.org/officeDocument/2006/relationships/chart" Target="/ppt/slides/charts/chart1.xml" Id="Re7c3ee7750ff4e90" /><Relationship Type="http://schemas.openxmlformats.org/officeDocument/2006/relationships/notesSlide" Target="/ppt/notesSlides/notesSlide12.xml" Id="R5aba905a765843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ea59ec0f54273" /><Relationship Type="http://schemas.openxmlformats.org/officeDocument/2006/relationships/notesSlide" Target="/ppt/notesSlides/notesSlide13.xml" Id="Ra08be99b9638432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9f0d1d7104906" /><Relationship Type="http://schemas.openxmlformats.org/officeDocument/2006/relationships/notesSlide" Target="/ppt/notesSlides/notesSlide14.xml" Id="R8e15c6031e35464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1bf2b5ba9425b" /><Relationship Type="http://schemas.openxmlformats.org/officeDocument/2006/relationships/notesSlide" Target="/ppt/notesSlides/notesSlide15.xml" Id="R51adede4098d49e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5058b384a41d3" /><Relationship Type="http://schemas.openxmlformats.org/officeDocument/2006/relationships/notesSlide" Target="/ppt/notesSlides/notesSlide16.xml" Id="Rcd831366e3ce460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324f1559e48a3" /><Relationship Type="http://schemas.openxmlformats.org/officeDocument/2006/relationships/notesSlide" Target="/ppt/notesSlides/notesSlide17.xml" Id="Rdcfef1af844a422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bebd75c104517" /><Relationship Type="http://schemas.openxmlformats.org/officeDocument/2006/relationships/notesSlide" Target="/ppt/notesSlides/notesSlide18.xml" Id="R3fb05358f80d4b2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b967b702f49b9" /><Relationship Type="http://schemas.openxmlformats.org/officeDocument/2006/relationships/notesSlide" Target="/ppt/notesSlides/notesSlide19.xml" Id="Rbba196fa2018442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db2d374b34809" /><Relationship Type="http://schemas.openxmlformats.org/officeDocument/2006/relationships/chart" Target="/ppt/slides/charts/chart2.xml" Id="Rc2e0e9a2d94c45ba" /><Relationship Type="http://schemas.openxmlformats.org/officeDocument/2006/relationships/notesSlide" Target="/ppt/notesSlides/notesSlide20.xml" Id="R2aeb8f0bd9b840d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05221adfe44bc" /><Relationship Type="http://schemas.openxmlformats.org/officeDocument/2006/relationships/notesSlide" Target="/ppt/notesSlides/notesSlide21.xml" Id="Ra7297c6241c348b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8f21210e7498d" /><Relationship Type="http://schemas.openxmlformats.org/officeDocument/2006/relationships/notesSlide" Target="/ppt/notesSlides/notesSlide22.xml" Id="Rb20310e740af4cad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Claude.ai 工作相关对话类别占比（2025）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62A3A"/>
              </a:solidFill>
              <a:latin typeface="Noto Sans CJK SC"/>
              <a:ea typeface="Noto Sans CJK SC"/>
              <a:cs typeface="Noto Sans CJK SC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占比</c:v>
          </c:tx>
          <c:spPr>
            <a:solidFill xmlns:a="http://schemas.openxmlformats.org/drawingml/2006/main">
              <a:srgbClr val="2BB3C0"/>
            </a:solidFill>
          </c:spPr>
          <c:cat>
            <c:strLit>
              <c:ptCount val="6"/>
              <c:pt idx="0">
                <c:v>计算机与数学</c:v>
              </c:pt>
              <c:pt idx="1">
                <c:v>艺术与媒体</c:v>
              </c:pt>
              <c:pt idx="2">
                <c:v>教育与图书</c:v>
              </c:pt>
              <c:pt idx="3">
                <c:v>行政办公</c:v>
              </c:pt>
              <c:pt idx="4">
                <c:v>生命科学</c:v>
              </c:pt>
              <c:pt idx="5">
                <c:v>商业与金融</c:v>
              </c:pt>
            </c:strLit>
          </c:cat>
          <c:val>
            <c:numLit>
              <c:formatCode>General</c:formatCode>
              <c:ptCount val="6"/>
              <c:pt idx="0">
                <c:v>37.2</c:v>
              </c:pt>
              <c:pt idx="1">
                <c:v>10.3</c:v>
              </c:pt>
              <c:pt idx="2">
                <c:v>9.3</c:v>
              </c:pt>
              <c:pt idx="3">
                <c:v>7.9</c:v>
              </c:pt>
              <c:pt idx="4">
                <c:v>6.4</c:v>
              </c:pt>
              <c:pt idx="5">
                <c:v>5.9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62A3A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latin typeface="Noto Sans CJK SC"/>
                    <a:ea typeface="Noto Sans CJK SC"/>
                    <a:cs typeface="Noto Sans CJK SC"/>
                  </a:rPr>
                  <a:t>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代理模型：预测均值与不确定性（示意）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62A3A"/>
              </a:solidFill>
              <a:latin typeface="Noto Sans CJK SC"/>
              <a:ea typeface="Noto Sans CJK SC"/>
              <a:cs typeface="Noto Sans CJK SC"/>
            </a:defRPr>
          </a:pPr>
        </a:p>
      </c:txPr>
    </c:title>
    <c:plotArea>
      <c:lineChart>
        <c:grouping val="standard"/>
        <c:ser>
          <c:idx val="0"/>
          <c:order val="0"/>
          <c:tx>
            <c:v>预测均值</c:v>
          </c:tx>
          <c:spPr>
            <a:ln xmlns:a="http://schemas.openxmlformats.org/drawingml/2006/main" w="28575">
              <a:solidFill>
                <a:srgbClr val="0D3B66"/>
              </a:solidFill>
            </a:ln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42</c:v>
              </c:pt>
              <c:pt idx="1">
                <c:v>48</c:v>
              </c:pt>
              <c:pt idx="2">
                <c:v>55</c:v>
              </c:pt>
              <c:pt idx="3">
                <c:v>61</c:v>
              </c:pt>
              <c:pt idx="4">
                <c:v>58</c:v>
              </c:pt>
              <c:pt idx="5">
                <c:v>66</c:v>
              </c:pt>
              <c:pt idx="6">
                <c:v>72</c:v>
              </c:pt>
              <c:pt idx="7">
                <c:v>70</c:v>
              </c:pt>
            </c:numLit>
          </c:val>
        </c:ser>
        <c:ser>
          <c:idx val="1"/>
          <c:order val="1"/>
          <c:tx>
            <c:v>不确定性上界</c:v>
          </c:tx>
          <c:spPr>
            <a:ln xmlns:a="http://schemas.openxmlformats.org/drawingml/2006/main" w="19050">
              <a:solidFill>
                <a:srgbClr val="2BB3C0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55</c:v>
              </c:pt>
              <c:pt idx="1">
                <c:v>58</c:v>
              </c:pt>
              <c:pt idx="2">
                <c:v>65</c:v>
              </c:pt>
              <c:pt idx="3">
                <c:v>72</c:v>
              </c:pt>
              <c:pt idx="4">
                <c:v>70</c:v>
              </c:pt>
              <c:pt idx="5">
                <c:v>80</c:v>
              </c:pt>
              <c:pt idx="6">
                <c:v>88</c:v>
              </c:pt>
              <c:pt idx="7">
                <c:v>90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latin typeface="Noto Sans CJK SC"/>
                    <a:ea typeface="Noto Sans CJK SC"/>
                    <a:cs typeface="Noto Sans CJK SC"/>
                  </a:rPr>
                  <a:t>候选条件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latin typeface="Noto Sans CJK SC"/>
                    <a:ea typeface="Noto Sans CJK SC"/>
                    <a:cs typeface="Noto Sans CJK SC"/>
                  </a:rPr>
                  <a:t>目标值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latin typeface="Noto Sans CJK SC"/>
              <a:ea typeface="Noto Sans CJK SC"/>
              <a:cs typeface="Noto Sans CJK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B428C9-897E-4F25-BACE-848FC4C1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2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03E9C-7018-444D-87F0-7217E348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04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4D70F-13C2-41FD-B7EF-A4EA6871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AI辅助科研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CA2657-5BC9-4A20-9951-FBC4D970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从大语言模型到实验闭环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0822F-4CC2-4AA8-B242-E09F808B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7E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D9E7EF"/>
                </a:solidFill>
                <a:latin typeface="Noto Sans CJK SC"/>
                <a:ea typeface="Noto Sans CJK SC"/>
                <a:cs typeface="Noto Sans CJK SC"/>
              </a:rPr>
              <a:t>能力边界、产业逻辑与可落地方法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08055-D478-442F-86A6-7A97FC00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4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AFC4D1"/>
                </a:solidFill>
                <a:latin typeface="Noto Sans CJK SC"/>
                <a:ea typeface="Noto Sans CJK SC"/>
                <a:cs typeface="Noto Sans CJK SC"/>
              </a:rPr>
              <a:t>面向非计算机专业科研同事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7B130-8253-4952-B7EC-D04EFB7E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A6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2A65A"/>
                </a:solidFill>
                <a:latin typeface="Noto Sans CJK SC"/>
                <a:ea typeface="Noto Sans CJK SC"/>
                <a:cs typeface="Noto Sans CJK SC"/>
              </a:rPr>
              <a:t>约 45 分钟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7BB446-074A-4689-BE27-E3371B1E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812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rPr>
              <a:t>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DC5C3-E74B-402F-A79F-052F0810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57300"/>
            <a:ext cx="123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235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文献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EB024-7BE7-4AC4-A95B-CA00B44A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257300"/>
            <a:ext cx="123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235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代码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3BC0ED-BF0F-40E0-8192-7500A0B5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95800"/>
            <a:ext cx="123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235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图像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5D54D-F4A7-4AA7-ADA5-A1FD82B9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95800"/>
            <a:ext cx="123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rPr>
              <a:t>实验</a:t>
            </a:r>
          </a:p>
        </p:txBody>
      </p: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620000" y="1571625"/>
            <a:ext cx="952186" cy="1018861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BB3C0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1"/>
            <a:endCxn xmlns:a="http://schemas.openxmlformats.org/drawingml/2006/main" id="8" idx="7"/>
          </p:cNvCxnSpPr>
          <p:nvPr/>
        </p:nvCxnSpPr>
        <p:spPr>
          <a:xfrm xmlns:a="http://schemas.openxmlformats.org/drawingml/2006/main" flipH="1">
            <a:off x="9582464" y="1571625"/>
            <a:ext cx="514036" cy="1018861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BB3C0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8" idx="3"/>
          </p:cNvCxnSpPr>
          <p:nvPr/>
        </p:nvCxnSpPr>
        <p:spPr>
          <a:xfrm xmlns:a="http://schemas.openxmlformats.org/drawingml/2006/main" flipV="1">
            <a:off x="7620000" y="3600764"/>
            <a:ext cx="952186" cy="1209361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BB3C0"/>
            </a:solidFill>
            <a:prstDash val="solid"/>
          </a:ln>
        </p:spPr>
      </p:cxnSp>
      <p:cxnSp>
        <p:nvCxnSpPr>
          <p:cNvPr id="33" name=""/>
          <p:cNvCxnSpPr>
            <a:stCxn xmlns:a="http://schemas.openxmlformats.org/drawingml/2006/main" id="12" idx="1"/>
            <a:endCxn xmlns:a="http://schemas.openxmlformats.org/drawingml/2006/main" id="8" idx="5"/>
          </p:cNvCxnSpPr>
          <p:nvPr/>
        </p:nvCxnSpPr>
        <p:spPr>
          <a:xfrm xmlns:a="http://schemas.openxmlformats.org/drawingml/2006/main" flipH="1" flipV="1">
            <a:off x="9582464" y="3600764"/>
            <a:ext cx="514036" cy="1209361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BB3C0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EF844B-AAFB-4686-BC86-A848439E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769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E7E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D9E7EF"/>
                </a:solidFill>
                <a:latin typeface="Noto Sans CJK SC"/>
                <a:ea typeface="Noto Sans CJK SC"/>
                <a:cs typeface="Noto Sans CJK SC"/>
              </a:rPr>
              <a:t>检索 · 生成 · 计算 · 验证</a:t>
            </a:r>
          </a:p>
        </p:txBody>
      </p:sp>
    </p:spTree>
    <p:extLst>
      <p:ext uri="{BB962C8B-B14F-4D97-AF65-F5344CB8AC3E}">
        <p14:creationId xmlns:p14="http://schemas.microsoft.com/office/powerpoint/2010/main" val="4746522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FB0396-2E80-40C2-9FDA-CFC564EC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54677-707F-4060-B160-6595C2EF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AI 辅助科研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3015F-EE9E-4BBF-B3DA-0BFA3FF5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rPr>
              <a:t>科研里真正稀缺的，往往不是想法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1D996-7695-4549-B571-3517888C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628CA-A672-45B2-B454-274810D2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大量时间消耗在可重复、可数字化、可检查的工作上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B933B-7EF8-42A2-8F1C-A11C03E1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B6612-CE07-4695-BA25-CE64A3B3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38500"/>
            <a:ext cx="1790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文献检索</a:t>
            </a:r>
          </a:p>
          <a:p xmlns:a="http://schemas.openxmlformats.org/drawingml/2006/main">
            <a:pPr algn="ctr">
              <a:defRPr sz="150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与证据整理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AD6CE7-AD96-4165-B23E-36DC6014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812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63835-64B8-4FA2-9600-528BF5BD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38500"/>
            <a:ext cx="1790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代码、图表</a:t>
            </a:r>
          </a:p>
          <a:p xmlns:a="http://schemas.openxmlformats.org/drawingml/2006/main">
            <a:pPr algn="ctr">
              <a:defRPr sz="150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与报告初稿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8C47E-9F0E-497C-8836-05620B33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69F304-8662-4A7A-87FA-7F2B6237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38500"/>
            <a:ext cx="1790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批量处理</a:t>
            </a:r>
          </a:p>
          <a:p xmlns:a="http://schemas.openxmlformats.org/drawingml/2006/main">
            <a:pPr algn="ctr">
              <a:defRPr sz="150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与参数扫描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1A80C-3DB7-4686-B64E-ADBE33A2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812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65408-6AD8-4FB2-B890-21019F82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38500"/>
            <a:ext cx="1790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结果核对</a:t>
            </a:r>
          </a:p>
          <a:p xmlns:a="http://schemas.openxmlformats.org/drawingml/2006/main">
            <a:pPr algn="ctr">
              <a:defRPr sz="150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与异常排查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286CFA-02F9-467E-8B7F-93DC4745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C52FAF-924D-431C-83BC-6319472E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AI最现实的切入点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B00A8-2DD6-4AC5-822D-DA23E64C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rPr>
              <a:t>先缩短这些环节，再讨论“自动发现”或AGI。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36EEF1-3B63-4618-8D3D-316EDD22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808025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55A9A2-BFF4-48D0-8E50-BEBB4116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E2654-B63A-4A79-92A9-67D3D0AE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AI 辅助科研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4A564-04C5-491F-910D-C9A8C257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rPr>
              <a:t>今天说的AI，不只是一种模型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EFCAA-7247-4E3E-92E3-C9DFCB80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533F5-4591-4CA3-BE84-E25D891D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39071-0922-479C-92BE-77A4D496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287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传统机器学习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0718F-97A3-4F17-9314-B638B32D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287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分类、回归、预测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19115-3D70-4F42-AB34-13EBC1C4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287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结构化数据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0DAEE-61CA-4A68-9E52-3AA0AE89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E0ACC-D8D2-49C3-9AB9-7C0D0FBE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336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大语言模型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FBB9AB-01A7-4297-8559-F6BCCD85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3362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理解与生成语言、代码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6FE7FE-72C3-4310-9203-FF4405AA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33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文本与符号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909BBF-9EAE-44C5-853F-77B59B83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FEA7B2-D8F3-469E-8F30-F30C7669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384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多模态模型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000C6B-42A5-420A-903B-4F348F9A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384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图像、语音、文档理解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6A86B7-DC2D-41BC-A03D-5E3CAFEB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384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跨模态数据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6B0A23-E618-46C4-81ED-1672098F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8A9383-0FAB-454E-B3DE-0804D9D8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433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智能体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AB2FB8-691B-4731-8BE1-BE6A4F2C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4332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调用工具、分解任务、执行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8D2EB0-8CB0-4F8E-9158-74E301E9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433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流程与反馈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F71CE8-F792-4EE4-B690-FC8275D5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B5626C-BD7B-4002-8E3E-11E31144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481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科学模型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44011E-E209-4903-95D0-93F09B6E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481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蛋白、天气、材料等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CB5D93-8BD8-4B74-9CB9-153AF262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481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领域规律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9C163D-7A1C-427F-97BD-0D78E759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7CA910-D439-4BC4-9F33-49EC64A0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530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机器人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6A4D95-93DA-4161-A081-A39D2C44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5302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感知、规划、动作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80CA49-67FA-4684-8E5D-0241BA55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530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真实世界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97F277-4032-43C7-89E3-AF8050BC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340131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0C4547-1C0E-4359-9E04-41B1D743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44855-5038-4973-AB1D-09056095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AI 辅助科研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D6BF4-0D19-4300-96E7-A93C1F8E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rPr>
              <a:t>大语言模型：把“下一个词”做到了极致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05ACA-1D66-4055-95B2-4DA6B64D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20A07-3710-4287-9204-554BBAB8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095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海量文本</a:t>
            </a:r>
          </a:p>
          <a:p xmlns:a="http://schemas.openxmlformats.org/drawingml/2006/main">
            <a:pPr algn="ctr">
              <a:defRPr sz="165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代码与图像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8960C3-E5C3-48E8-BB56-13C5F422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2095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DF4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预测下一个</a:t>
            </a:r>
          </a:p>
          <a:p xmlns:a="http://schemas.openxmlformats.org/drawingml/2006/main">
            <a:pPr algn="ctr">
              <a:defRPr sz="180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词元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7010A-F7B3-45B1-849D-A5D53844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95500"/>
            <a:ext cx="2095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形成可复用的</a:t>
            </a:r>
          </a:p>
          <a:p xmlns:a="http://schemas.openxmlformats.org/drawingml/2006/main">
            <a:pPr algn="ctr">
              <a:defRPr sz="165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内部表示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B8C1C1-E0C5-4216-8EA6-AA40FC5E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95500"/>
            <a:ext cx="1809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生成回答</a:t>
            </a:r>
          </a:p>
          <a:p xmlns:a="http://schemas.openxmlformats.org/drawingml/2006/main">
            <a:pPr algn="ctr">
              <a:defRPr sz="16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或调用工具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9B790-BE61-4471-99F0-C7B835F4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训练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DD09F-4BCA-4BFA-81AF-4D1DD42B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676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A6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2A65A"/>
                </a:solidFill>
                <a:latin typeface="Noto Sans CJK SC"/>
                <a:ea typeface="Noto Sans CJK SC"/>
                <a:cs typeface="Noto Sans CJK SC"/>
              </a:rPr>
              <a:t>推理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137816-2A92-4AEC-B5EE-89ABFB9E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14575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80573-5B10-4046-9ACF-FB10D3BB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14575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8A84EE-8706-4948-84A9-427F6881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14575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967EC1-E0F6-433D-92B3-75C19946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71B2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051B6F-6141-45DF-9ECB-ACD0BA42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关键理解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1C3604-E9F2-4BC5-B0D0-40B56B97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它擅长从既有数据中提炼模式，但“说得像懂”不等于“理解因果”或“掌握事实”。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433547-2EB6-40DB-B87A-FB9148BF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888953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5CBA96-4DE6-4F24-A4D4-55C9B639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91FFC-A488-4BBE-ABED-E9E0BE4D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AI 辅助科研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6547A-9855-48A4-9D37-3A50E3FA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rPr>
              <a:t>从聊天机器人到科研智能体，差在“工具闭环”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6EF28-B499-4218-9600-D2ACE2AD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7E393-9704-4C2D-97BB-7C98E0AA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19100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85F0F-7D8E-4149-A947-D8206264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859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对话模型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86090-846F-4572-BB5F-CD92C2DD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71750"/>
            <a:ext cx="952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C1B74-EA5E-4691-81FD-BF3F0C60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7652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E7606-B697-4772-92E7-2864DD9A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952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DF4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回答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2D6EC-BA93-499C-83D9-E1EF3BF9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623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一次性输出，错误往往隐藏在流畅表达里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B90E7-33B5-4AA3-BB70-4CBDF08E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524000"/>
            <a:ext cx="628650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071B2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FCCBD8-8F3E-4165-A0CD-22C0368A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859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科研智能体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10457A-A73E-4AC0-9360-74935316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86050"/>
            <a:ext cx="9906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目标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719C72-9E21-4EDB-96A5-ED092BD4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86050"/>
            <a:ext cx="12001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调用工具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D2EAF5-A9F9-4CB4-B1D2-CA44F2F4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86050"/>
            <a:ext cx="12001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检查结果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0CA077-A639-4147-95CF-A2B1D2AE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86050"/>
            <a:ext cx="914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rPr>
              <a:t>继续执行</a:t>
            </a:r>
          </a:p>
        </p:txBody>
      </p:sp>
      <p:cxnSp>
        <p:nvCxnSpPr>
          <p:cNvPr id="39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610350" y="29813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BB3C0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267700" y="29813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BB3C0"/>
            </a:solidFill>
            <a:prstDash val="solid"/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925050" y="29813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BB3C0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621552-9751-46A9-AC0E-C5A038B8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052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文件 · 数据库 · 代码 · 浏览器 · 实验平台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D335AA-9166-4CD7-A31B-2115E8A8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529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价值来自“执行 + 反馈”，不只是更会聊天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751CD4-E868-42A8-A570-58C70FB4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361900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7E58EF-4B8E-429C-8E52-41238BA4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FE1FE-DB57-4F60-9068-74EECA8D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AI 辅助科研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90EA1-8440-4C4F-BA4F-8C3690AD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rPr>
              <a:t>AGI不是一个开关，而是三条轴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9FD2D-E92D-4189-A1A5-F399A284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A2C4F-BF15-45EB-812E-D2E1977D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广度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DF6C2-02BC-4E04-A3E7-FF4FF0EF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838325"/>
            <a:ext cx="80962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6E0E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3F304-30FD-48FA-984A-4B48F32F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838325"/>
            <a:ext cx="5905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62D0A-E9D6-4145-A161-0FF34692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716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6B039-B09B-4578-A9B8-DD6C2188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1717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能否跨越大量任务和领域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97E43-C576-4D3C-BCF1-08F9E5A3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A6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2A65A"/>
                </a:solidFill>
                <a:latin typeface="Noto Sans CJK SC"/>
                <a:ea typeface="Noto Sans CJK SC"/>
                <a:cs typeface="Noto Sans CJK SC"/>
              </a:rPr>
              <a:t>水平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A7D978-9AA2-4F25-B0B3-F9FC1C5E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95625"/>
            <a:ext cx="80962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6E0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E02DF-0E2E-459D-AD5C-2A9EA3F7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95625"/>
            <a:ext cx="4762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C9FF7A-7220-4B50-9418-C09A1CFD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289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D706F4-BA24-412D-91E6-66AF3C6A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4290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能否达到或超过熟练人类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904723-9A3D-43C7-84C5-6E410CC6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E9A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4E9A73"/>
                </a:solidFill>
                <a:latin typeface="Noto Sans CJK SC"/>
                <a:ea typeface="Noto Sans CJK SC"/>
                <a:cs typeface="Noto Sans CJK SC"/>
              </a:rPr>
              <a:t>自主性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357487-DA2B-41DE-A9EB-828C37E4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352925"/>
            <a:ext cx="80962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6E0E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062FCE-8F0D-485C-915E-2FF56076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352925"/>
            <a:ext cx="3238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4E9A7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44E9DB-80C8-4E08-BBE7-67F06E46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2862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9A7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4AC86E-E1C4-4BBB-B52E-6C2A9E9F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863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能否长期规划、执行并纠错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B07F97-04D4-46BC-B9D1-BBEFB0CE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76400"/>
            <a:ext cx="1600200" cy="3143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71B2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223D6F-69CA-4257-9814-8DDD6484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71750"/>
            <a:ext cx="133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能力不均衡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是常态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7B1FB9-5A79-4DA1-B513-96263CE2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因此，不同专家对AGI的判断往往是在讨论不同阈值。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A65B05-876C-4B05-B805-19666950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245139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9257C4-8A2F-4EA6-91AD-05E6F39E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1F0DE-86BB-4016-B9BA-7EAD5643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AI 辅助科研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1EFEB-4FA8-47E4-A6E9-608B71E4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rPr>
              <a:t>四位代表人物，对“下一步”看法不同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33D9E-C3D9-4341-A1B6-A4389593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AC310-7955-4D26-8311-A9A119E0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525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3B6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67DBE-BBB4-46D5-BFF6-BFB2C5F4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6573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Geoffrey Hinton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F240E-6F83-43E2-990C-C828E042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765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50F3C-13A4-4F33-AC0E-6ADE540A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813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Demis Hassabis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58C10-0F16-48A7-974D-682745F7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9A7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67AC8B-082E-4769-B8DA-397B78EB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052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David Baker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E9C6B-FE82-4C30-AACE-281E2E58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244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rPr>
              <a:t>YL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18EF17-DCBC-4E4A-94BB-64B931B2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292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Yann LeCun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3429000" y="1485900"/>
          <a:ext xmlns:a="http://schemas.openxmlformats.org/drawingml/2006/main" cx="8077200" cy="4476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000500"/>
                <a:gridCol w="4076700"/>
              </a:tblGrid>
              <a:tr h="895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基本判断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更关心什么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0D3B66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A3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能力可能快速超过人类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A3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失控、就业与生存风险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7"/>
                      </a:solidFill>
                    </a:lnR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A3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通用系统可加速科学发现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A3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可控推进与科学基础设施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7"/>
                      </a:solidFill>
                    </a:lnR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A3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AI已成为科学设计工具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A3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蛋白设计和可验证的新功能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7"/>
                      </a:solidFill>
                    </a:lnR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A3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仅靠LLM扩展不足以达成AGI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D6E0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A3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世界模型、记忆与分层规划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7"/>
                      </a:solidFill>
                    </a:lnR>
                    <a:lnB w="9525">
                      <a:solidFill>
                        <a:srgbClr val="D6E0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B8E923-24FC-46DA-9818-E47C3D70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157134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E38F2A-CB50-4B88-8F52-BB000B79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84858-C636-4A77-A61F-5DC86BDC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AI 辅助科研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B2A42-D93A-48ED-8076-E54E0B61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rPr>
              <a:t>LeCun提醒我们：会说，不等于会理解世界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B184E-937F-47C5-BE96-1751C5E3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A6B5A-96A9-457D-A24C-7796A64C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大语言模型的强项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707A7-5D84-4821-83C2-BC81FDA0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A9F22-E5A8-498A-95D9-874BC329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71700"/>
            <a:ext cx="4229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压缩并重组人类已有文本知识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DA8E1-3E09-4BAB-8548-7E670E9F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76D66-F6A0-4AF9-979E-719DFA06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00350"/>
            <a:ext cx="4229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生成语言、代码和结构化表达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E8F59-5953-4E2F-9F8D-10AC83B3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B1064A-8C3C-4E6D-9D0E-87557259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4229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在明确上下文中快速迁移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F6CCFC-8FE0-4512-938A-1597AB55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85B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D85B53"/>
                </a:solidFill>
                <a:latin typeface="Noto Sans CJK SC"/>
                <a:ea typeface="Noto Sans CJK SC"/>
                <a:cs typeface="Noto Sans CJK SC"/>
              </a:rPr>
              <a:t>走向自主智能仍缺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56DAE9-F097-4541-81C7-DFF01CBE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6ADD37-65FC-4D96-9105-25888E83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71700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对物理世界的稳定世界模型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24924D-BED9-45B5-A9C5-74CB96F6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38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6775CE-7FCB-43AF-940C-BA9FF527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00350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长期记忆与持续学习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31CF35-FF7E-48D3-A139-5B28EC67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67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21F02-C2F4-441D-85E8-4FD02B7C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29000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分层规划和对行动后果的预测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B1FEA3-26B9-4069-85BA-21F7291C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71B2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A3C537-58E8-4A0E-8F0A-B77A6644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对科研的启示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570EDB-463A-4F27-BC09-284C51C1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76825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把LLM当作知识与工具接口，而不是自动拥有实验常识的“数字科学家”。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176F5A-A91A-4FDC-9700-E2CBFD37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944133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06CF60-2DC4-49F3-8ABB-15999FFC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8BD3A-FFD2-4EB9-9485-52F92003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AI 辅助科研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C4C6D-4515-45E1-85D1-82AB902C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rPr>
              <a:t>机器人难，不是缺一个聊天模型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3C602-7BCC-4018-8274-E5E869AE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2E229-6AD1-4CC9-B1EB-795749D8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80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F4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感知</a:t>
            </a:r>
          </a:p>
          <a:p xmlns:a="http://schemas.openxmlformats.org/drawingml/2006/main">
            <a:pPr algn="ctr">
              <a:defRPr sz="16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看到什么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E69C0-F9DF-428A-87E7-03845758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81250"/>
            <a:ext cx="200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建模</a:t>
            </a:r>
          </a:p>
          <a:p xmlns:a="http://schemas.openxmlformats.org/drawingml/2006/main">
            <a:pPr algn="ctr">
              <a:defRPr sz="165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世界会怎样变化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CB9AE-29C3-4EEF-A9E8-0B405F71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180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规划</a:t>
            </a:r>
          </a:p>
          <a:p xmlns:a="http://schemas.openxmlformats.org/drawingml/2006/main">
            <a:pPr algn="ctr">
              <a:defRPr sz="165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下一步做什么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AB7BC-1B3D-4ECE-8840-1B48DB03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81250"/>
            <a:ext cx="180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控制</a:t>
            </a:r>
          </a:p>
          <a:p xmlns:a="http://schemas.openxmlformats.org/drawingml/2006/main">
            <a:pPr algn="ctr">
              <a:defRPr sz="16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毫秒级动作</a:t>
            </a:r>
          </a:p>
        </p:txBody>
      </p: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667000" y="28575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D6D79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486400" y="28575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D6D79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115300" y="28575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D6D79"/>
            </a:solidFill>
            <a:prstDash val="solid"/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12AF57-D14F-4315-B26E-24AE30F6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3B6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数据昂贵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1A1BE5-0276-4F52-AE6E-5885770A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2862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3B6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现实不可重置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73787-8EBA-40AB-8563-EE555FA0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862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3B6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误差会累积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974552-5BD2-4039-BB03-87D04769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2862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85B5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安全责任高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203606-DDB2-4591-9A36-DF936DC3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862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85B5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硬件会磨损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5FA46A-5ECB-49F9-8730-CF71C9DB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2862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85B5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仿真有偏差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0BC454-4D6D-45DC-83DD-35B41CC3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rPr>
              <a:t>语言错误可能是一句话，机器人错误可能是一次碰撞。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1B3683-DF93-4195-BF84-8E75533D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346432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BCC9E5-B509-40A5-B3EA-A373ECE5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BA524-343B-42FF-95D8-FFFE7698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AI 辅助科研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4330C-1B79-4EF6-B01E-AD414C5C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rPr>
              <a:t>为什么数学和计算机进展看起来更快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F0A15-6DF9-43BE-810D-D4803BBF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92487-ADFA-4FEA-8E4C-2A6C8D90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0482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071B2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B98746-7147-49FE-835E-03AB2601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数字世界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4A6DF-7C1D-4936-916F-BECF84E4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9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9D3F0-DBB9-43E1-8F3A-C9A4D056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71750"/>
            <a:ext cx="3829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输入输出天然数字化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C26D0-4225-43FE-9CE8-05A2033B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EA7838-F1FC-4083-BD2B-293E7D72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62300"/>
            <a:ext cx="3829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代码与证明容易自动检查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23F9D-1EFD-4905-A794-E3385AAD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9CF7C5-1171-412C-925A-463DBFDC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52850"/>
            <a:ext cx="3829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训练数据和反馈相对丰富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0CD3E9-97C1-4491-8DBF-A2437C5E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81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4D3E58-A9A7-414D-9B9D-67A49DDA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43400"/>
            <a:ext cx="3829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复制与试错成本低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ACEFF-C4EA-46FC-8D8C-8276054F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24000"/>
            <a:ext cx="50482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1D98BE-B24C-4A30-9912-CB97890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669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物理世界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6D63E7-4864-4442-9ABE-7A82AF09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09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43699F-E248-4FF2-A634-921B2D9E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1750"/>
            <a:ext cx="3829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数据依赖设备与样品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E9A108-9697-4DEB-B0CC-18AB71EE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00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BBD703-ED35-4645-A076-5117888E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62300"/>
            <a:ext cx="3829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结果受隐变量和工艺影响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B27FBB-A4A2-4A86-A295-CE4F03EA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90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654A3A-B7B9-4C80-8A81-FCCC78E3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52850"/>
            <a:ext cx="3829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实验周期长且可能不可逆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B102D0-9659-451E-BB9C-309BB176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81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978E62-C919-40A8-A0CC-BDF0B308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43400"/>
            <a:ext cx="3829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验证需要真实资源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B6B14D-1E5E-4753-9C19-C5C06EBB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结论：数学与计算机是当前最清晰的价值区，但不是唯一价值区。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504E3F-7487-49F2-89E5-09D1A315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706262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A1EC40-D48B-4F11-B38E-EA38C563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4CA593-E6DD-40BF-AC1E-53128E44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AI 辅助科研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FC420-3D3F-4B79-B9FF-9CDA1DA0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rPr>
              <a:t>AI创造价值的主线，是降低认知与试错成本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89E20-6E90-4F1E-9D3C-586A4C85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9108FB-7836-4CF3-AF64-EE94C4FD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已规模化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51503-C1CF-4354-AEFE-53466D9A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19250"/>
            <a:ext cx="9029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71B2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E974E5-BF84-459D-B723-0DD67378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526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3B6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写代码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66153-0B0F-473E-B6DE-8762F8F4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9526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3B6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客服与办公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2945A-6BC6-4C36-9FFE-3C8B0672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3B6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内容处理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D2C648-2C04-46BF-BC24-04F39603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快速增长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641897-1594-4017-9AB3-F4DAB005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71800"/>
            <a:ext cx="9029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FDDEB-231B-477E-9A12-A23D566D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0517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数据分析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E2FCCA-D4C4-4C9B-A1B7-0F9B6915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30517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专业知识工作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411718-1981-4C49-A9D0-EE43641C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0517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研发工具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C00230-3E1C-44B9-8E9F-22A11DD2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A6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2A65A"/>
                </a:solidFill>
                <a:latin typeface="Noto Sans CJK SC"/>
                <a:ea typeface="Noto Sans CJK SC"/>
                <a:cs typeface="Noto Sans CJK SC"/>
              </a:rPr>
              <a:t>潜力巨大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38AA8-90DC-42F0-B498-5953B7B5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24350"/>
            <a:ext cx="9029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07BD78-C066-4FA3-A7DE-578EBD7F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577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科学发现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309EF7-18CD-4A5B-9CF9-961621AC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6577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实验优化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E9C78C-A781-45D8-B7EF-39C56927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577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机器人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C41E99-91E6-403F-8B03-9318A736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9A1E00-3A0B-470D-AB81-F9BBF105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rPr>
              <a:t>科研价值取决于两个条件：数据是否可用，结果是否可验证。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97EFD1-5D22-49E3-9682-B852CBA0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147864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1BDCEB-A8AE-4FE2-8193-93A15384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025AA-ADA9-4C6D-9032-0F9F7355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AI 辅助科研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8B0B8-0E45-4CE1-92B7-9C77D256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rPr>
              <a:t>真实使用结构：代码很强，但不是全部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9FE25-6A32-4F5F-B87C-E6BB7583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7"/>
          </a:solidFill>
          <a:ln xmlns:a="http://schemas.openxmlformats.org/drawingml/2006/main" w="0">
            <a:noFill/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85800" y="156210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c3ee7750ff4e9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33B52-A937-4A23-BC4D-45BC4622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95450"/>
            <a:ext cx="3257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71B2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053AB-FB71-461A-9E7B-2E724A0F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1930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37.2%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7CBEA-446C-406E-B413-7346F126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860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来自计算机与数学类任务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530A75-61A3-429C-AE41-A3FC889F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00450"/>
            <a:ext cx="32575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442B30-AE4A-44BD-A8BA-5EDCB823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481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A6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2A65A"/>
                </a:solidFill>
                <a:latin typeface="Noto Sans CJK SC"/>
                <a:ea typeface="Noto Sans CJK SC"/>
                <a:cs typeface="Noto Sans CJK SC"/>
              </a:rPr>
              <a:t>另一面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0F1364-2596-4C37-8334-FE0052B8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48150"/>
            <a:ext cx="2724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ChatGPT消费者使用中，约七成是非工作场景。平台与用户群会显著改变统计结果。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8F1D3B-2DD7-415A-A334-DC568762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数据代表使用分布，不等同于经济价值。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54141-D7CC-4004-AEEA-0463A209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468825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728E52-6A63-4624-8C68-D4E101DE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3663D-0A03-476B-89D6-72E9FC8D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AI 辅助科研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2E51FB-294B-4B8B-A189-96C51137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rPr>
              <a:t>AI已经进入科学发现，但成熟度并不一致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5714B-2699-4420-914E-DA153285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869FD-71B6-49CE-9EBB-D89F7632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00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9A7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E1F33-C165-4E18-B349-143DF895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E9A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4E9A73"/>
                </a:solidFill>
                <a:latin typeface="Noto Sans CJK SC"/>
                <a:ea typeface="Noto Sans CJK SC"/>
                <a:cs typeface="Noto Sans CJK SC"/>
              </a:rPr>
              <a:t>结构预测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3F58F-3A51-49A2-907C-79477727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790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蛋白、分子、材料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483408-A0B1-47BD-93E6-0531D318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526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6E0E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D6E0E7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B9D5D-9C45-4FC2-B0CD-2C8C57D2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00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60BB29-50F8-498E-8F35-52FAFFE0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观测理解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5703DB-61FF-4529-9B94-6710B057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14700"/>
            <a:ext cx="1790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显微图像、遥感、组学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51BAE5-C6ED-4FE3-8A18-30CCC319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526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6E0E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D6E0E7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5F2492-4E51-44E1-84ED-36C70BC6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0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3B6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ED3A5-6D7A-43B9-AF9A-909C7101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575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模拟加速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571877-0000-4B57-9039-A07E9470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14700"/>
            <a:ext cx="1790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天气、物理与代理模型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BA5D24-06D3-41F1-AB90-477BE37E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526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6E0E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D6E0E7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7BBFFB-03F4-40B1-A967-FE8A4FCF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00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E383C6-1A9B-4C60-B220-278BE6C6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575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2A6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2A65A"/>
                </a:solidFill>
                <a:latin typeface="Noto Sans CJK SC"/>
                <a:ea typeface="Noto Sans CJK SC"/>
                <a:cs typeface="Noto Sans CJK SC"/>
              </a:rPr>
              <a:t>实验优化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6B1C67-1FD2-4E86-968F-6ACA3F3D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14700"/>
            <a:ext cx="1790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选参数、排实验、主动学习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EB0770-E226-4AAF-8EE4-1AF6FE95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526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6E0E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D6E0E7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878FBE-7021-4D7B-B1DD-C0DD446F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000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5B5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01B9D8-D72C-4F6D-825B-C15A1FFC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575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85B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D85B53"/>
                </a:solidFill>
                <a:latin typeface="Noto Sans CJK SC"/>
                <a:ea typeface="Noto Sans CJK SC"/>
                <a:cs typeface="Noto Sans CJK SC"/>
              </a:rPr>
              <a:t>自主实验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271346-7FC1-4C64-94AB-3CAB18E6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14700"/>
            <a:ext cx="1790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机器人实验室与闭环控制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CE4FBF-44DF-45E7-8EE1-66CC2227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820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36144E-A9B7-48F5-8F46-47F94A4C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rPr>
              <a:t>越靠右，越依赖真实设备、可靠传感、约束控制和安全责任。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6C4510-596B-4707-BFD1-31A6E1B8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599620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75545A-D956-4004-9C4F-0DCAC80F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514E9-BA24-49E6-859F-2A619596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AI 辅助科研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2075D-1AC0-4115-B70B-1F994553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rPr>
              <a:t>Anthropic为什么估值高：买的是未来能力与入口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37715-9C18-4585-8E2D-3BFEFEBC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448CB-1687-4221-90E0-AA6C8E17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3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$183B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28EBD-CDDE-4C1C-AC73-E5EFAB7E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2025年9月融资后估值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8FEE9-9FDA-4EA0-BBC6-9FBF36FB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28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3B6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27C83-F49F-453C-A80C-17B3C7EB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581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能力稀缺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D77AB-583A-4236-AFD2-729EC4AB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5811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前沿模型与安全研究品牌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B52BF-07A5-4D9B-970D-00C1F10D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812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3B6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DDA711-6F38-4CB1-BC0F-E593135E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33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企业入口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B129C8-D43C-476E-A0E1-8CAA6C01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336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API、Claude Code与大型客户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FD8263-761E-4D1F-A43F-D3F6CFDF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33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204472-5E18-4113-BD95-D1CC6C24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86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增长预期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875B16-300F-4E70-8F10-8DA4118B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861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收入增长与工作流渗透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108B94-CCAC-485D-894A-A85A10B1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862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9A2DB0-678D-4697-B0D2-0E6D89EB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38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战略位置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9FE4D9-C2F0-48F3-81DD-565232E4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386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云、芯片和平台生态合作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DBF2EC-6811-4B99-8CE3-14C706D0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DA222A-7520-4FB0-861C-B9BEA7D9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62625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注意：这是私人公司融资估值，不是股票“市值”，也不等于当前利润。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52107C-AD0D-480F-A6A8-3D8027FB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388040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300EB2-CC5F-45EA-B758-E9221377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0CDED-3EBE-4D2D-8658-E8ADC860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AI 辅助科研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57EA6-81E4-4F78-ABCD-41BBAA84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rPr>
              <a:t>为什么OpenAI和Anthropic还在大量烧钱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D0087-8DE5-403E-8E68-97BB6DB9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FA2F5-317E-436C-8710-093A5AE4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953000" cy="34480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071B2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2B944-C8B6-4F71-91CB-3CC2066E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669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第一张账单：造模型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CAB86-FFE9-415E-A64B-7D6874C5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6DCD8-09CF-44C4-BAFC-BB36C380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3733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芯片和数据中心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5B640C-5F62-4C42-802F-E82CA21D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D22DA9-B598-4257-B0E2-D1ADD019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24200"/>
            <a:ext cx="3733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训练实验与失败成本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9CACA1-A5BC-4094-A8D3-4250729A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769B9D-DD87-4396-8178-92BEFABB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3733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研究、工程和人才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3AF539-529E-47F4-89CF-C1991DAF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671270-2A52-4D91-9F2B-9FCAAFE9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3733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安全评测与产品基础设施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5206CB-884D-4335-ACB2-2BF97B74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24000"/>
            <a:ext cx="5638800" cy="34480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62D78B-3D82-467A-89BC-B3435288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669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第二张账单：每次使用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C1420D-BF9E-4783-AE70-96E22845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09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95D439-A8A0-416C-BF80-36081F1E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71750"/>
            <a:ext cx="449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推理仍消耗昂贵算力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52B86C-D653-401D-90A6-4DD112C4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62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5FCFD1-DFCE-4F91-A6C3-A2696BD2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24200"/>
            <a:ext cx="449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免费和低价用户先于收入增长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7D7F0F-677E-487E-8F33-52D1FA72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14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600154-F32F-4672-9D52-23CE03BB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76650"/>
            <a:ext cx="449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更长上下文和智能体任务更贵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579459-0220-4F24-B2C8-CA3652D7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67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88086A-9199-4272-83E8-089BDBCE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29100"/>
            <a:ext cx="449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需要持续扩容以维持体验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54FDA5-0B9F-4FA2-A7C1-A6A1B88F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rPr>
              <a:t>模型越强，需求可能越大；规模扩大并不自动带来正现金流。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A21AB0-9D51-467E-A3FE-444F0208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训练是固定投入，推理是持续成本。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D33CAA-6254-4F6F-8BB3-68729D0E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345532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B2C3F1-2929-469E-988B-F320A675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9ACE6-7A80-4E73-B3BD-D0EFF358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AI 辅助科研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10227-9BAB-4B50-8821-FE51B520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rPr>
              <a:t>资本为什么继续投入：争夺规模飞轮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B4F7A-9EE2-4E3B-8C49-877A9F40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AA049-F4F0-4D1F-9DCA-ED1E2255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62100"/>
            <a:ext cx="2286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融资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DD11F0-673D-4AA5-91E7-0DA7E298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2286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71B2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算力与人才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2ACA9-0668-489B-BBC2-3038359B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52950"/>
            <a:ext cx="2286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D3B6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更强模型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7484F-8D21-4653-AC1A-23D01B86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52950"/>
            <a:ext cx="2286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rPr>
              <a:t>用户与收入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3F1F0-65A8-4D98-813A-762E585E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43200"/>
            <a:ext cx="2286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品牌与分发</a:t>
            </a:r>
          </a:p>
        </p:txBody>
      </p: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239000" y="1895475"/>
            <a:ext cx="990600" cy="11811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BB3C0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6" idx="1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8096250" y="3076575"/>
            <a:ext cx="133350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BB3C0"/>
            </a:solidFill>
            <a:prstDash val="solid"/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5238750" y="4886325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BB3C0"/>
            </a:solidFill>
            <a:prstDash val="solid"/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8" idx="0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 flipV="1">
            <a:off x="3962400" y="3076575"/>
            <a:ext cx="133350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BB3C0"/>
            </a:solidFill>
            <a:prstDash val="solid"/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9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962400" y="1895475"/>
            <a:ext cx="990600" cy="11811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BB3C0"/>
            </a:solidFill>
            <a:prstDash val="solid"/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99F028-D080-4D2F-B63B-5F557832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6705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赢家预期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6F827E-B7BC-42A6-993C-7DC75592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43300"/>
            <a:ext cx="365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模型能力和使用规模可能形成复利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FEDD09-B593-49ED-A40E-830BB875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42A2D7-EDE7-4DAD-9697-A933ED34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48350"/>
            <a:ext cx="1051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但飞轮可能被开源模型、价格战、监管和算力约束打断。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D84310-863B-474D-BE6C-D40A456A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8047477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53D030-FAB8-42A5-9C14-E8F31C4D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887B8-430F-41C5-B73F-2C143B51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AI 辅助科研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277A4-8A39-4740-916E-137C5096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rPr>
              <a:t>判断一个任务是否适合AI，看两件事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419A6-C390-45EB-B426-6FEB5CD5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B3425-AB3E-4E0A-88BA-1644FD90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352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结果容易验证 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7C1BC-CCC4-43BA-B4C2-E52B7A77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数字化程度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BFB3D8-3643-4182-BCF0-EBE8167C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239C2-92BD-4BAC-A072-A3A1CAB8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958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5B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D85B53"/>
                </a:solidFill>
                <a:latin typeface="Noto Sans CJK SC"/>
                <a:ea typeface="Noto Sans CJK SC"/>
                <a:cs typeface="Noto Sans CJK SC"/>
              </a:rPr>
              <a:t>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31877-B56C-44F3-939F-72656387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57350"/>
            <a:ext cx="44767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DDF4F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47D71-FCD7-4293-9F09-9EA9E00C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43100"/>
            <a:ext cx="401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最适合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8C6201-D125-43D3-9E91-34748718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95550"/>
            <a:ext cx="4019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代码、表格、公式、批量数据处理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DAB707-BAC4-4314-8A97-B6BE5783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57350"/>
            <a:ext cx="47053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7DE26-24B0-4B67-88AE-228F2DE7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4310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适合辅助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FCCDE-254F-4190-BBC5-0E9DB608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95550"/>
            <a:ext cx="4248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文献综述、写作、方案比较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CCC4EE-D1F3-4174-B4DA-895CC31F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95700"/>
            <a:ext cx="44767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2E71C7-8EE9-4C2A-B49D-C2C6C091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81450"/>
            <a:ext cx="401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需要人机闭环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79743E-33A2-45DB-BC61-54C44FA4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33900"/>
            <a:ext cx="4019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图像判读、实验选点、异常诊断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C3FA36-06F1-44A2-95F9-2A63B02B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95700"/>
            <a:ext cx="47053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7E3E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7063B6-A297-4DE5-927C-544ADADB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85B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D85B53"/>
                </a:solidFill>
                <a:latin typeface="Noto Sans CJK SC"/>
                <a:ea typeface="Noto Sans CJK SC"/>
                <a:cs typeface="Noto Sans CJK SC"/>
              </a:rPr>
              <a:t>谨慎使用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7FA028-7BBC-4EA0-A7F8-89F4C1D2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33900"/>
            <a:ext cx="4248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因果结论、隐性经验、安全责任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99EC8E-4067-4297-9A48-3F15F8F2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887406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6A8F9D-2854-4DBB-B76A-AE223645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BEC96-E8DD-4AEE-AC5C-144BACBD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AI 辅助科研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8DAAF-6945-41DB-956B-204F9BAD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rPr>
              <a:t>AI可以进入科研全流程，但不能替代责任链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B5B89-910F-40E2-9251-705968E0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A9CC3-10D7-4C45-BC88-54E81854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428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71B2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CBC91-A0C9-4DBD-839C-E1F0DEE2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145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3BF28-1168-449B-A1B6-8F229319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52625"/>
            <a:ext cx="1428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F4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文献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5CBE8-53C9-4535-B25B-F7DA5FF6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145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0FB2D5-8502-48A9-907B-C8EF0DB7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52625"/>
            <a:ext cx="1428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F4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假设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DEF31-72CB-42A5-A53D-87043C97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145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33DB1A-2DBD-4CD6-9B81-0EAA74A2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52625"/>
            <a:ext cx="1428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F4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实验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0F7B70-DCDA-4D49-AE6E-A124D34B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145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2627C7-EBBE-4303-A8D1-04542364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52625"/>
            <a:ext cx="1428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F4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数据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11FE91-CC3B-4AF1-B8DA-31E17D19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145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17E9AE-6D6F-445C-AB8C-F13AFEEF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52625"/>
            <a:ext cx="1428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71B2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论文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1E3B6F-D34B-4A8A-B843-9E5E859F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AI适合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F2833C-18BB-4C81-9BB7-8733D851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76600"/>
            <a:ext cx="96964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DF4F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63C459-FA0D-4EAD-A593-6B764E35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48050"/>
            <a:ext cx="920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检索、总结、生成、计算、批处理、格式转换、候选方案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E4A0A4-85CC-41D4-9B49-8D70681E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A6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2A65A"/>
                </a:solidFill>
                <a:latin typeface="Noto Sans CJK SC"/>
                <a:ea typeface="Noto Sans CJK SC"/>
                <a:cs typeface="Noto Sans CJK SC"/>
              </a:rPr>
              <a:t>人负责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B1B8B4-D4D4-4FCB-8F4E-D409AFD6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86250"/>
            <a:ext cx="96964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AA588E-75B1-404E-BF0A-ED37EBD9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57700"/>
            <a:ext cx="920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研究问题、数据来源、实验伦理、因果判断、最终签字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C57279-D0A4-4E73-9680-1505E9E9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rPr>
              <a:t>原则：让AI承担“可检查的工作”，让人承担“不可转移的责任”。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6C036D-DE64-49D6-91AB-FB0D630C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3769312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ED4A78-F2EF-4C85-A4EB-0243DBFF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0DDCC-B98A-4CE6-B0BF-263748F5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AI 辅助科研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107B4-31C7-42CE-B8F9-67454E5E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rPr>
              <a:t>案例一：SEM图像批量量测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668DF-3004-40AF-9C2E-EFAF2562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E5937-2EBB-4B47-A282-7F076A25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429000" cy="28194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121B2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5F2EC-DDB6-43B7-A79A-82005929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33350" cy="2038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7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CAA9E-04E6-47FF-A8C9-72CA2349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90725"/>
            <a:ext cx="133350" cy="1847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2C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37B70B-959A-4151-89E7-D59E1DCA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57400"/>
            <a:ext cx="133350" cy="2038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7E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A754B-BE16-4E0D-BDEF-E2A14FB9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924050"/>
            <a:ext cx="133350" cy="1847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2C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312FB-160A-43CB-BCB2-6AA408AB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990725"/>
            <a:ext cx="133350" cy="2038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7E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535F25-92AB-4D0A-A5DE-1B046FE9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57400"/>
            <a:ext cx="133350" cy="1847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2C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900CD3-C4E5-4444-868D-094972F3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24050"/>
            <a:ext cx="133350" cy="2038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7E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59DBB9-DF55-41DB-88FE-10FD87ED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90725"/>
            <a:ext cx="133350" cy="1847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2C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B6BD3E-01C2-4374-A9D7-D3816C90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95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B9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1E2587-8B70-470D-80A3-2427FAA8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14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B9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63BCB7-3D2F-4A47-937B-87948558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B9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A24D0B-06C7-4992-AC46-BADFE5FE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433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B9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F72D24-785B-4307-AEA0-21DB4F77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76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B9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35A997-4BAE-4443-963E-B6E3EE4A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09575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3B44AE-337C-408E-9B8B-4B3EF36A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719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 μm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35928F-BED7-4D0A-AF69-A961560A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原图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40483A-1E1D-41D3-8741-7D73C772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619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E6C948-D17C-4686-A3B0-587C5E33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581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旋转校正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D8B5B0-54C1-478A-AA19-45B78030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906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统一方向与尺度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43E5F8-4A22-450F-BAEA-B62C5888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71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4375FF-5FEF-443D-827C-719B20CB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336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边缘提取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86E0DE-9282-4BDF-A6FA-682C0987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431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分割结构和线条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861C00-1A42-4502-BDBA-7DE941D2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24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ABE969-6ABF-439E-8FB2-401798E9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86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统计量测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C77FE0-F4BC-4D2C-BFC8-25A4DF99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956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CD、LER、LWR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DD73C2-F343-4086-946B-61C2C871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76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42948E-56C2-4909-9A17-229F26A5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386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质量控制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D069FB-3480-459C-9EAA-6BBBF91D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481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异常图和置信度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97F004-8989-4086-A3DC-AAE777F6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48300"/>
            <a:ext cx="6934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71B2B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14551A-1AFA-40BD-BA35-41B3E6C4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629275"/>
            <a:ext cx="638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AI写代码并提建议，人用标定样本和统计规则验收。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3A1926-E951-40D2-A3A5-0901AFF9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73297422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653274-0DD3-487F-B09A-C9471823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62E365-0BA5-4896-8DE4-615E06CE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AI 辅助科研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B0252-63AD-4035-A283-D1152949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rPr>
              <a:t>案例二：贝叶斯优化推荐下一组实验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BB8C6-FB0E-4E4C-A905-C2F096E0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7"/>
          </a:solidFill>
          <a:ln xmlns:a="http://schemas.openxmlformats.org/drawingml/2006/main" w="0">
            <a:noFill/>
          </a:ln>
        </p:spPr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6000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e0e9a2d94c45b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821EC-5D22-4C76-AD07-31B7D5AF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43050"/>
            <a:ext cx="3429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已有实验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AA7F8-BBF6-406A-93ED-1D725A47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43150"/>
            <a:ext cx="3429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DF4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训练代理模型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8DB8E-1F8F-478E-B863-2D166D9D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3429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收益 + 不确定性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0A30B-DED0-4A4C-87A6-EA8B4FFB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43350"/>
            <a:ext cx="3429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推荐下一点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527568-5BA1-497C-91DF-FE4B2E74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43450"/>
            <a:ext cx="3429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71B2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实验并更新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E4B3D1-6371-488D-8CF6-A08BE034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95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EABBDA-CC91-41AC-86F8-3FF4D6EE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95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0F8476-D016-4626-A6EA-D5FBC409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95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3E914B-3938-4A09-8B3D-C04EDD4B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958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3B579B-E67A-4064-98AA-6E117867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rPr>
              <a:t>它不替代科学判断，而是把实验资源投向更有信息量的地方。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DBACDB-AB48-4D39-8258-1DBEAE02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8817734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3E9AE8-2738-46D2-AA44-49213298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CF008-4C47-434D-89EA-84164CD9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AI 辅助科研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C8AA0-B888-4150-BA5A-3B54D999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rPr>
              <a:t>一个可复用的AI科研工作流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B780F6-0194-4452-BBD6-64AC63E8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52D49-EE50-4B83-9492-32A1CAE8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8D1BA-D257-4AF1-BAA7-713BADDF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04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给上下文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625BBD-79C9-4C54-9283-6BB0B26C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144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研究对象、数据口径、设备与限制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2B026-8BED-4BE9-BA74-800C4460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954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背景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71EA34-3F42-4ACB-832E-8A1ADB6A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8120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14F043-4430-4443-AE3F-64731C6C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36158A-8EFF-49DE-A4EF-A13E90F0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43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给任务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1597E-110B-4A25-96A3-2F2D56D0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526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一次只做一个明确交付物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25EE1-CD3B-4ED1-BDCA-6CCBF82A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336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动作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785055-BAF8-44D9-8ABC-BE4A113F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1940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10AA24-67AB-4717-B9D3-B50ACEA5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10980E-F6D8-4D36-A275-FC24D5B9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给材料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868F92-DF25-41B0-BC3D-784B190C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908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论文、数据、代码、图像和模板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E2CF7-F9B3-4A15-ADD1-D897DE50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718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输入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26EB1B-967F-4FD9-8CD6-A08BB315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5760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D72544-C09F-4DCC-8E41-789FB0DF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C3257F-867F-456A-848A-D347E796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19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给验收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A7CCED-CA53-4D94-A05D-00714766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290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正确性、格式、边界与测试样例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894C2F-636D-4FA2-939C-971B11D0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100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标准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F72947-B9D6-4AE1-BB41-AE449001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9580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60A607-F89D-4604-80FE-FC66FCEE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9719BC-8D31-4048-99BF-570D561F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57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D3B66"/>
                </a:solidFill>
                <a:latin typeface="Noto Sans CJK SC"/>
                <a:ea typeface="Noto Sans CJK SC"/>
                <a:cs typeface="Noto Sans CJK SC"/>
              </a:rPr>
              <a:t>留记录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50B7D5-E7AC-4B59-BEAB-E287125E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672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62A3A"/>
                </a:solidFill>
                <a:latin typeface="Noto Sans CJK SC"/>
                <a:ea typeface="Noto Sans CJK SC"/>
                <a:cs typeface="Noto Sans CJK SC"/>
              </a:rPr>
              <a:t>提示词、版本、来源和人工修改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00B22A-D6F1-4429-BCBD-3C7BD3BF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482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追溯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D3A7A0-008A-410E-AE5D-99712237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3400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7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21E26D-E461-4EC0-A756-43C30879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71B2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31816B-C821-46AB-A6A9-80A7F7D3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最好用的提示词，不是“更聪明”，而是更像一份可执行的实验单。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44FACB-8378-4A2C-BA8C-4CE129C8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5D6D79"/>
                </a:solidFill>
                <a:latin typeface="Noto Sans CJK SC"/>
                <a:ea typeface="Noto Sans CJK SC"/>
                <a:cs typeface="Noto Sans CJK SC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8349642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ED30BC-E7AC-4950-963B-E7F9DF4C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D1DCB-EE55-425F-AE94-E763078C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最后记住三句话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002D4-39AB-4FF4-A09D-BB3A5319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EF0A0-8F74-48D1-9CEF-0B66A7A8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8592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AI最擅长数字化、重复、可验证的任务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4968C-095A-4106-BD55-AFF82638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05050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6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FD851-D356-4729-BFE6-2EBD84B3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BB3C0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94607-3864-43C9-A6DC-E1121A5D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0987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语言能力不等于物理理解，也不等于因果证明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EA4BA8-8210-40E1-8E10-689DE759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29000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65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0D51B-6662-49E3-BE11-1269CC37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A6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2A65A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96B3E8-D619-4E22-BE61-559E8C85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3382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科研价值来自可靠闭环，不来自一次漂亮回答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D4D79-E39C-4516-B467-D5891381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52950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65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8AC437-D53A-4584-B821-28301E13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BB3C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A18431-FE1B-44C0-8EA8-DF101AE7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8165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071B2B"/>
                </a:solidFill>
                <a:latin typeface="Noto Sans CJK SC"/>
                <a:ea typeface="Noto Sans CJK SC"/>
                <a:cs typeface="Noto Sans CJK SC"/>
              </a:rPr>
              <a:t>从一个低风险、重复、可验证的任务开始。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7E8148-1E77-4756-BE7F-C39CD661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4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AFC4D1"/>
                </a:solidFill>
                <a:latin typeface="Noto Sans CJK SC"/>
                <a:ea typeface="Noto Sans CJK SC"/>
                <a:cs typeface="Noto Sans CJK SC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3731553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2026-09-22T04:21:37.4870000Z</dcterms:created>
  <dcterms:modified xsi:type="dcterms:W3CDTF">2026-09-22T04:21:37.4870000Z</dcterms:modified>
</coreProperties>
</file>