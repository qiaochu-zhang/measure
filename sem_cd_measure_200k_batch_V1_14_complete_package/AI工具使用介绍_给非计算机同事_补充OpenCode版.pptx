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media/image-14-1.jpg" ContentType="image/jpg"/>
  <Override PartName="/ppt/media/image-18-1.jpg" ContentType="image/jpg"/>
  <Override PartName="/ppt/media/image-3-1.jpg" ContentType="image/jpg"/>
  <Override PartName="/ppt/media/image-7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4" r:id="rId25"/>
    <p:sldId id="275" r:id="rId26"/>
    <p:sldId id="276" r:id="rId27"/>
    <p:sldId id="277" r:id="rId28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开场先降低门槛：今天不讲复杂算法，只讲大家在日常工作中怎么理解AI工具、怎么判断该不该用、尤其是为什么“让AI写代码”会变成一种普通办公能力。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这页给听众一个心理预期：我们不是培训编程语法，而是介绍一种新的工作方式。后面所有内容都围绕“能干什么、什么时候用、怎么验证”展开。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可以把AI理解为增强版助理。它的强项不是替你负责，而是把材料读得快、初稿出得快、转换格式快。真正的价值在于：你给它清晰任务，它给你可检查的结果。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这一页用四类能力做全景图：先不要急着讲代码，先让大家知道AI不是只有聊天。编码和Agent是更高级的形态，能够把“想法”变成可运行的小工具。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这页很重要，避免听众误以为AI可以直接替代专业判断。尤其在科研、工艺、专利、数据结论里，AI输出一定要验证。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给非计算机同事解释时，不要从变量、循环开始。先把代码类比为SOP：Excel里的公式也是一种规则，Python只是规则更灵活、能处理更多文件和步骤。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强调Python好用不是因为“高级”，而是因为它能做重复、批量、可追溯的事情。听众可能最容易联想到手动整理表格、图片命名、每周重复出图。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这页可以解决“是不是所有事情都应该上代码”的误解。很多场景Excel更快，代码不是为了炫技，而是解决重复和规模问题。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传统流程中，业务人员和科研人员最懂需求，但经常不会把需求变成代码。AI辅助编码的价值，就是把“把需求翻译成代码”的成本大幅降低。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这页是核心。AI辅助编程并不是取消人，而是改变分工。非程序员最关键的能力变成：把任务讲清楚，并能验证输出是不是对。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讲Continue时不要陷入安装细节。重点说它不是一个新的编程语言，而是一个嵌入编辑器的AI助手。它的核心价值是：能看到当前代码上下文，并在代码文件里直接给修改建议。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这页可以直接作为实操模板。强调：AI不是读心术，提示词写得越像任务单，结果越靠谱。尤其要给输入、输出、路径、规则、样例和验收方式。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案例要讲得非常生活化：一堆CSV，以前手动复制粘贴；现在用AI写脚本，变成一套固定流程。注意最后一定有人核对，不是AI输出什么就信什么。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这页从工具转到科研工作流。可以说：AI不会替代实验，但能让实验前后的准备、整理和表达变快。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这页可以结合大家的工作场景举例：比如半导体工艺调研、实验计划、可靠性测试、SEM图片处理、周报输出。AI很适合做框架和清单。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这页是企业场景必讲：内部部署优先，敏感信息不能乱发。关键结果必须有验证，尤其是科研结论、工艺参数和代码自动输出。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给听众一个可执行的开始方式。建议从低风险、重复的小任务开始，比如固定格式周报、CSV汇总、批量重命名、画图。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收尾时强调：AI不是替代人，而是放大人的工作流。对非程序员来说，最值得开始的是：用自然语言描述一个重复任务，让AI帮你生成可运行、可检查的小工具。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meeting_right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49808" y="1261872"/>
            <a:ext cx="4754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AI工具使用介绍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86384" y="2029968"/>
            <a:ext cx="48006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D7E7FF"/>
                </a:solidFill>
              </a:rPr>
              <a:t>从“会问问题”到“让AI帮我们写代码、做科研”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786384" y="2880360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203B67"/>
          </a:solidFill>
          <a:ln w="12700">
            <a:solidFill>
              <a:srgbClr val="203B6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59536" y="2944368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D7FF"/>
                </a:solidFill>
              </a:rPr>
              <a:t>面向非计算机背景同事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2542032" y="288036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203B67"/>
          </a:solidFill>
          <a:ln w="12700">
            <a:solidFill>
              <a:srgbClr val="203B6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2615184" y="2944368"/>
            <a:ext cx="16824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9D7FF"/>
                </a:solidFill>
              </a:rPr>
              <a:t>办公 / 科研 / 数据 / 编程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22960" y="5376672"/>
            <a:ext cx="48006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2D4F6"/>
                </a:solidFill>
              </a:rPr>
              <a:t>核心观点：AI不是魔法，它更像一个“会读写、会查资料、会写初稿、会写代码的实习生”。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今天讲完，至少弄清楚三件事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601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B72FF"/>
                </a:solidFill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960120" y="2212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13C"/>
                </a:solidFill>
              </a:rPr>
              <a:t>AI能帮什么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2578608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58B"/>
                </a:solidFill>
              </a:rPr>
              <a:t>信息整理、内容生成、办公自动化、数据处理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66344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BAA85"/>
                </a:solidFill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663440" y="2212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t>代码与Agent是什么</a:t>
            </a:r>
          </a:p>
        </p:txBody>
      </p:sp>
      <p:sp>
        <p:nvSpPr>
          <p:cNvPr id="10" name="Text 8"/>
          <p:cNvSpPr/>
          <p:nvPr/>
        </p:nvSpPr>
        <p:spPr>
          <a:xfrm>
            <a:off x="4709160" y="2578608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58B"/>
                </a:solidFill>
              </a:rPr>
              <a:t>把重复工作写成一套可执行SOP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36676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5A524"/>
                </a:solidFill>
              </a:rPr>
              <a:t>03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8366760" y="221284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13C"/>
                </a:solidFill>
              </a:rPr>
              <a:t>怎么安全用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412480" y="2578608"/>
            <a:ext cx="265176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5758B"/>
                </a:solidFill>
              </a:rPr>
              <a:t>人负责判断，AI负责辅助；重要结果要验证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606040" y="1984248"/>
            <a:ext cx="192024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6309360" y="1984248"/>
            <a:ext cx="192024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  <a:tailEnd type="triangle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60120" y="4828032"/>
            <a:ext cx="10268712" cy="822960"/>
          </a:xfrm>
          <a:prstGeom prst="roundRect">
            <a:avLst>
              <a:gd name="adj" fmla="val 20000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234440" y="5084064"/>
            <a:ext cx="96926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这份PPT不是“教大家变程序员”，而是让大家知道：哪些工作可以交给AI和代码做，自己应该怎样提需求、怎样验收结果。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2/22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WHAT IS AI TOOL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AI工具的本质：会“读写 + 归纳 + 执行”的助手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training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25880"/>
            <a:ext cx="5074920" cy="42519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7240" y="1463040"/>
            <a:ext cx="4937760" cy="658368"/>
          </a:xfrm>
          <a:prstGeom prst="roundRect">
            <a:avLst>
              <a:gd name="adj" fmla="val 25000"/>
            </a:avLst>
          </a:prstGeom>
          <a:solidFill>
            <a:srgbClr val="EEF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24128" y="1609344"/>
            <a:ext cx="38404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554480" y="1618488"/>
            <a:ext cx="3886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读论文、邮件、表格、代码、图片说明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2359152"/>
            <a:ext cx="4937760" cy="658368"/>
          </a:xfrm>
          <a:prstGeom prst="roundRect">
            <a:avLst>
              <a:gd name="adj" fmla="val 25000"/>
            </a:avLst>
          </a:prstGeom>
          <a:solidFill>
            <a:srgbClr val="EAFB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024128" y="2505456"/>
            <a:ext cx="38404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A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554480" y="2514600"/>
            <a:ext cx="3886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写摘要、报告、邮件、PPT大纲、代码初稿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777240" y="3255264"/>
            <a:ext cx="4937760" cy="658368"/>
          </a:xfrm>
          <a:prstGeom prst="roundRect">
            <a:avLst>
              <a:gd name="adj" fmla="val 25000"/>
            </a:avLst>
          </a:prstGeom>
          <a:solidFill>
            <a:srgbClr val="F3F0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24128" y="3401568"/>
            <a:ext cx="38404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想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554480" y="3410712"/>
            <a:ext cx="3886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归纳差异、列检查清单、提出实验思路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777240" y="4151376"/>
            <a:ext cx="4937760" cy="658368"/>
          </a:xfrm>
          <a:prstGeom prst="roundRect">
            <a:avLst>
              <a:gd name="adj" fmla="val 25000"/>
            </a:avLst>
          </a:prstGeom>
          <a:solidFill>
            <a:srgbClr val="FFF7E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24128" y="4297680"/>
            <a:ext cx="384048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1554480" y="4306824"/>
            <a:ext cx="388620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在工具内调用搜索、文件、代码、表格等能力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" y="5897880"/>
            <a:ext cx="106070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一句话：AI把“脑力劳动中可重复、可描述、可验证”的部分变快。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3/22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CAPABILITY 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AI工具能做什么：从“问答”到“自动化”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685800" y="1417320"/>
            <a:ext cx="2423160" cy="3063240"/>
          </a:xfrm>
          <a:prstGeom prst="roundRect">
            <a:avLst>
              <a:gd name="adj" fmla="val 6792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信息类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2331720"/>
            <a:ext cx="16459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查资料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读长文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对比观点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提炼结论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520440" y="1417320"/>
            <a:ext cx="2423160" cy="3063240"/>
          </a:xfrm>
          <a:prstGeom prst="roundRect">
            <a:avLst>
              <a:gd name="adj" fmla="val 6792"/>
            </a:avLst>
          </a:prstGeom>
          <a:solidFill>
            <a:srgbClr val="F3F0FF"/>
          </a:solidFill>
          <a:ln w="12700">
            <a:solidFill>
              <a:srgbClr val="F3F0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749040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31920" y="2331720"/>
            <a:ext cx="16459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写周报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改邮件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做PPT大纲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翻译润色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355080" y="1417320"/>
            <a:ext cx="2423160" cy="3063240"/>
          </a:xfrm>
          <a:prstGeom prst="roundRect">
            <a:avLst>
              <a:gd name="adj" fmla="val 6792"/>
            </a:avLst>
          </a:prstGeom>
          <a:solidFill>
            <a:srgbClr val="EAFBF5"/>
          </a:solidFill>
          <a:ln w="12700">
            <a:solidFill>
              <a:srgbClr val="EAFBF5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83680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A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数据类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66560" y="2331720"/>
            <a:ext cx="16459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清洗表格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统计分析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画图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异常排查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189720" y="1417320"/>
            <a:ext cx="2423160" cy="3063240"/>
          </a:xfrm>
          <a:prstGeom prst="roundRect">
            <a:avLst>
              <a:gd name="adj" fmla="val 6792"/>
            </a:avLst>
          </a:prstGeom>
          <a:solidFill>
            <a:srgbClr val="FFF7E7"/>
          </a:solidFill>
          <a:ln w="12700">
            <a:solidFill>
              <a:srgbClr val="FFF7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418320" y="1691640"/>
            <a:ext cx="1920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执行类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601200" y="2331720"/>
            <a:ext cx="164592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写代码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改代码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跑脚本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多步任务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1051560" y="5166360"/>
            <a:ext cx="10058400" cy="786384"/>
          </a:xfrm>
          <a:prstGeom prst="roundRect">
            <a:avLst>
              <a:gd name="adj" fmla="val 2093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25880" y="5413248"/>
            <a:ext cx="950976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越靠右，AI越像“工具使用者”；越靠左，AI越像“知识助理”。编程/Agent属于最能放大效率、也最需要验收的一类。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4/22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LIMITS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先说边界：AI很快，但不是“自动正确”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600200"/>
            <a:ext cx="4617720" cy="960120"/>
          </a:xfrm>
          <a:prstGeom prst="roundRect">
            <a:avLst>
              <a:gd name="adj" fmla="val 17143"/>
            </a:avLst>
          </a:prstGeom>
          <a:solidFill>
            <a:srgbClr val="FFF7E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143000" y="1783080"/>
            <a:ext cx="1554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可能会错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2743200" y="1764792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引用、数字、公式、政策、代码都可能出错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914400" y="3246120"/>
            <a:ext cx="4617720" cy="960120"/>
          </a:xfrm>
          <a:prstGeom prst="roundRect">
            <a:avLst>
              <a:gd name="adj" fmla="val 17143"/>
            </a:avLst>
          </a:prstGeom>
          <a:solidFill>
            <a:srgbClr val="EEF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3429000"/>
            <a:ext cx="1554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可能缺上下文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2743200" y="3410712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不知道内部流程、设备限制、数据含义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09360" y="1600200"/>
            <a:ext cx="4617720" cy="960120"/>
          </a:xfrm>
          <a:prstGeom prst="roundRect">
            <a:avLst>
              <a:gd name="adj" fmla="val 17143"/>
            </a:avLst>
          </a:prstGeom>
          <a:solidFill>
            <a:srgbClr val="F3F0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537960" y="1783080"/>
            <a:ext cx="1554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可能过度自信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38160" y="1764792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回答看起来很顺，但未必经过真实验证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3246120"/>
            <a:ext cx="4617720" cy="960120"/>
          </a:xfrm>
          <a:prstGeom prst="roundRect">
            <a:avLst>
              <a:gd name="adj" fmla="val 17143"/>
            </a:avLst>
          </a:prstGeom>
          <a:solidFill>
            <a:srgbClr val="FFECEC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537960" y="3429000"/>
            <a:ext cx="155448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E5484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可能有安全风险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138160" y="3410712"/>
            <a:ext cx="251460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敏感数据、内部资料不能随便发公网工具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914400" y="4937760"/>
            <a:ext cx="1028700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097280" y="5376672"/>
            <a:ext cx="987552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最稳妥的定位：AI = 候选答案生成器；人 = 需求定义者 + 结果验收者 + 风险负责人。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5/22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CODE 101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代码是什么？就是给电脑看的“操作SOP”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051560" y="1417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72FF"/>
                </a:solidFill>
              </a:rPr>
              <a:t>人类语言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1847088"/>
            <a:ext cx="2560320" cy="1234440"/>
          </a:xfrm>
          <a:prstGeom prst="roundRect">
            <a:avLst>
              <a:gd name="adj" fmla="val 13333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1078992" y="2157984"/>
            <a:ext cx="2029968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“把这些实验数据按批次分组，算平均值，画趋势图。”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566160" y="2468880"/>
            <a:ext cx="123444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754880" y="1417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AA85"/>
                </a:solidFill>
              </a:rPr>
              <a:t>代码 / Python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434840" y="1847088"/>
            <a:ext cx="3017520" cy="1234440"/>
          </a:xfrm>
          <a:prstGeom prst="roundRect">
            <a:avLst>
              <a:gd name="adj" fmla="val 13333"/>
            </a:avLst>
          </a:prstGeom>
          <a:solidFill>
            <a:srgbClr val="EAFBF5"/>
          </a:solidFill>
          <a:ln w="12700">
            <a:solidFill>
              <a:srgbClr val="EAFBF5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709160" y="2176272"/>
            <a:ext cx="246888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groupby → mean → plot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让电脑一步步执行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2468880"/>
            <a:ext cx="123444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823960" y="141732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</a:rPr>
              <a:t>结果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8641080" y="1847088"/>
            <a:ext cx="2560320" cy="1234440"/>
          </a:xfrm>
          <a:prstGeom prst="roundRect">
            <a:avLst>
              <a:gd name="adj" fmla="val 13333"/>
            </a:avLst>
          </a:prstGeom>
          <a:solidFill>
            <a:srgbClr val="FFF7E7"/>
          </a:solidFill>
          <a:ln w="12700">
            <a:solidFill>
              <a:srgbClr val="FFF7E7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887968" y="2157984"/>
            <a:ext cx="2057400" cy="43891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表格、图片、报告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可重复生成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1143000" y="4434840"/>
            <a:ext cx="9921240" cy="987552"/>
          </a:xfrm>
          <a:prstGeom prst="roundRect">
            <a:avLst>
              <a:gd name="adj" fmla="val 16667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1417320" y="4800600"/>
            <a:ext cx="937260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代码并不神秘：它适合把“规则清楚、步骤固定、需要重复”的事情交给电脑做。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6/22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WHY PYTHON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为什么Python有时候特别好用？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coding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0" y="1234440"/>
            <a:ext cx="4892040" cy="44805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" y="1463040"/>
            <a:ext cx="5029200" cy="676656"/>
          </a:xfrm>
          <a:prstGeom prst="roundRect">
            <a:avLst>
              <a:gd name="adj" fmla="val 243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024128" y="1627632"/>
            <a:ext cx="777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901952" y="1627632"/>
            <a:ext cx="36118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一次处理几百个文件，不用手点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22960" y="2450592"/>
            <a:ext cx="5029200" cy="676656"/>
          </a:xfrm>
          <a:prstGeom prst="roundRect">
            <a:avLst>
              <a:gd name="adj" fmla="val 243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1024128" y="2615184"/>
            <a:ext cx="777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A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可重复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901952" y="2615184"/>
            <a:ext cx="36118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同一套脚本重复跑，减少人为差异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822960" y="3438144"/>
            <a:ext cx="5029200" cy="676656"/>
          </a:xfrm>
          <a:prstGeom prst="roundRect">
            <a:avLst>
              <a:gd name="adj" fmla="val 243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1024128" y="3602736"/>
            <a:ext cx="777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可追溯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1901952" y="3602736"/>
            <a:ext cx="36118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每一步规则写在代码里，方便复查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822960" y="4425696"/>
            <a:ext cx="5029200" cy="676656"/>
          </a:xfrm>
          <a:prstGeom prst="roundRect">
            <a:avLst>
              <a:gd name="adj" fmla="val 2432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1024128" y="4590288"/>
            <a:ext cx="777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可组合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901952" y="4590288"/>
            <a:ext cx="36118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4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读表格、画图、处理图片、生成报告都能串起来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841248" y="5989320"/>
            <a:ext cx="1042416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657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典型场景：批量整理SEM图片命名、合并实验CSV、自动画趋势图、从文献表提取指标、生成固定格式报告。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7/22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 VS CODE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Excel还是Python？看任务形态，不看“高级不高级”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444752"/>
            <a:ext cx="5074920" cy="3520440"/>
          </a:xfrm>
          <a:prstGeom prst="roundRect">
            <a:avLst>
              <a:gd name="adj" fmla="val 467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263640" y="1444752"/>
            <a:ext cx="5074920" cy="3520440"/>
          </a:xfrm>
          <a:prstGeom prst="roundRect">
            <a:avLst>
              <a:gd name="adj" fmla="val 467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1444752"/>
            <a:ext cx="5074920" cy="502920"/>
          </a:xfrm>
          <a:prstGeom prst="rect">
            <a:avLst/>
          </a:prstGeom>
          <a:solidFill>
            <a:srgbClr val="2B72FF"/>
          </a:solidFill>
          <a:ln w="12700">
            <a:solidFill>
              <a:srgbClr val="2B72FF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6263640" y="1444752"/>
            <a:ext cx="5074920" cy="502920"/>
          </a:xfrm>
          <a:prstGeom prst="rect">
            <a:avLst/>
          </a:prstGeom>
          <a:solidFill>
            <a:srgbClr val="0BAA85"/>
          </a:solidFill>
          <a:ln w="12700">
            <a:solidFill>
              <a:srgbClr val="0BAA85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143000" y="1600200"/>
            <a:ext cx="45262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更适合Excel / 软件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37960" y="1600200"/>
            <a:ext cx="45262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更适合Python / 代码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148840"/>
            <a:ext cx="4206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数据量小；临时看一眼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629400" y="2148840"/>
            <a:ext cx="4206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文件很多；每周/月都要重复跑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34440" y="2788920"/>
            <a:ext cx="4206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手动调整、人工判断多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29400" y="2788920"/>
            <a:ext cx="4206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规则清楚、步骤固定、可批量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34440" y="3429000"/>
            <a:ext cx="4206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需要快速沟通、现场改图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6629400" y="3429000"/>
            <a:ext cx="4206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需要可复现、可审计、可版本管理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3444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标准功能已经够用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629400" y="4069080"/>
            <a:ext cx="420624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Excel很难处理：图片、文本、复杂清洗、多源合并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960120" y="5486400"/>
            <a:ext cx="10287000" cy="640080"/>
          </a:xfrm>
          <a:prstGeom prst="roundRect">
            <a:avLst>
              <a:gd name="adj" fmla="val 25714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234440" y="5687568"/>
            <a:ext cx="9738360" cy="182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判断口诀：一次性、小数据、需要人眼调 → 软件；重复性、多文件、规则明确 → 代码。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8/22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TRADITIONAL CODING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传统写代码流程：门槛高在“从0到1”和“报错排查”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508760" y="2880360"/>
            <a:ext cx="54864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3383280" y="2880360"/>
            <a:ext cx="54864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257800" y="2880360"/>
            <a:ext cx="54864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132320" y="2880360"/>
            <a:ext cx="54864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006840" y="2880360"/>
            <a:ext cx="54864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40080" y="2240280"/>
            <a:ext cx="1417320" cy="1234440"/>
          </a:xfrm>
          <a:prstGeom prst="roundRect">
            <a:avLst>
              <a:gd name="adj" fmla="val 13333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04672" y="2386584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72FF"/>
                </a:solidFill>
              </a:rPr>
              <a:t>需求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04672" y="2724912"/>
            <a:ext cx="1088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我要什么结果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514600" y="2240280"/>
            <a:ext cx="1417320" cy="1234440"/>
          </a:xfrm>
          <a:prstGeom prst="roundRect">
            <a:avLst>
              <a:gd name="adj" fmla="val 13333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2679192" y="2386584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72FF"/>
                </a:solidFill>
              </a:rPr>
              <a:t>拆步骤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679192" y="2724912"/>
            <a:ext cx="1088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怎么做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2240280"/>
            <a:ext cx="1417320" cy="1234440"/>
          </a:xfrm>
          <a:prstGeom prst="roundRect">
            <a:avLst>
              <a:gd name="adj" fmla="val 13333"/>
            </a:avLst>
          </a:prstGeom>
          <a:solidFill>
            <a:srgbClr val="EAFBF5"/>
          </a:solidFill>
          <a:ln w="12700">
            <a:solidFill>
              <a:srgbClr val="EAFBF5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553712" y="2386584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AA85"/>
                </a:solidFill>
              </a:rPr>
              <a:t>写代码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553712" y="2724912"/>
            <a:ext cx="1088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懂语法和库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263640" y="2240280"/>
            <a:ext cx="1417320" cy="1234440"/>
          </a:xfrm>
          <a:prstGeom prst="roundRect">
            <a:avLst>
              <a:gd name="adj" fmla="val 13333"/>
            </a:avLst>
          </a:prstGeom>
          <a:solidFill>
            <a:srgbClr val="EAFBF5"/>
          </a:solidFill>
          <a:ln w="12700">
            <a:solidFill>
              <a:srgbClr val="EAFBF5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28232" y="2386584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AA85"/>
                </a:solidFill>
              </a:rPr>
              <a:t>运行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28232" y="2724912"/>
            <a:ext cx="1088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配置环境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138160" y="2240280"/>
            <a:ext cx="1417320" cy="1234440"/>
          </a:xfrm>
          <a:prstGeom prst="roundRect">
            <a:avLst>
              <a:gd name="adj" fmla="val 13333"/>
            </a:avLst>
          </a:prstGeom>
          <a:solidFill>
            <a:srgbClr val="FFF7E7"/>
          </a:solidFill>
          <a:ln w="12700">
            <a:solidFill>
              <a:srgbClr val="FFF7E7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02752" y="2386584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</a:rPr>
              <a:t>报错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302752" y="2724912"/>
            <a:ext cx="1088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自己查原因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012680" y="2240280"/>
            <a:ext cx="1417320" cy="1234440"/>
          </a:xfrm>
          <a:prstGeom prst="roundRect">
            <a:avLst>
              <a:gd name="adj" fmla="val 13333"/>
            </a:avLst>
          </a:prstGeom>
          <a:solidFill>
            <a:srgbClr val="FFF7E7"/>
          </a:solidFill>
          <a:ln w="12700">
            <a:solidFill>
              <a:srgbClr val="FFF7E7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10177272" y="2386584"/>
            <a:ext cx="1088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5A524"/>
                </a:solidFill>
              </a:rPr>
              <a:t>修改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0177272" y="2724912"/>
            <a:ext cx="1088136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反复调试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005840" y="5074920"/>
            <a:ext cx="10149840" cy="31089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以前：不会编程的人通常卡在“语法、库、环境、报错”这些环节；需求本身反而可能很清楚。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9/22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AI-ASSISTED CODING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AI辅助编码流程：人提需求，AI写草稿，人来验收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240280" y="2816352"/>
            <a:ext cx="685800" cy="0"/>
          </a:xfrm>
          <a:prstGeom prst="line">
            <a:avLst/>
          </a:prstGeom>
          <a:noFill/>
          <a:ln w="12700">
            <a:solidFill>
              <a:srgbClr val="2B7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4343400" y="2816352"/>
            <a:ext cx="685800" cy="0"/>
          </a:xfrm>
          <a:prstGeom prst="line">
            <a:avLst/>
          </a:prstGeom>
          <a:noFill/>
          <a:ln w="12700">
            <a:solidFill>
              <a:srgbClr val="2B7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46520" y="2816352"/>
            <a:ext cx="685800" cy="0"/>
          </a:xfrm>
          <a:prstGeom prst="line">
            <a:avLst/>
          </a:prstGeom>
          <a:noFill/>
          <a:ln w="12700">
            <a:solidFill>
              <a:srgbClr val="2B7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8549640" y="2816352"/>
            <a:ext cx="685800" cy="0"/>
          </a:xfrm>
          <a:prstGeom prst="line">
            <a:avLst/>
          </a:prstGeom>
          <a:noFill/>
          <a:ln w="12700">
            <a:solidFill>
              <a:srgbClr val="2B7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85800" y="2148840"/>
            <a:ext cx="1600200" cy="1325880"/>
          </a:xfrm>
          <a:prstGeom prst="roundRect">
            <a:avLst>
              <a:gd name="adj" fmla="val 12414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50392" y="22951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72FF"/>
                </a:solidFill>
              </a:rPr>
              <a:t>1 说清任务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50392" y="2633472"/>
            <a:ext cx="1271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输入、输出、规则、示例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788920" y="2148840"/>
            <a:ext cx="1600200" cy="1325880"/>
          </a:xfrm>
          <a:prstGeom prst="roundRect">
            <a:avLst>
              <a:gd name="adj" fmla="val 12414"/>
            </a:avLst>
          </a:prstGeom>
          <a:solidFill>
            <a:srgbClr val="EAFBF5"/>
          </a:solidFill>
          <a:ln w="12700">
            <a:solidFill>
              <a:srgbClr val="EAFBF5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2953512" y="22951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AA85"/>
                </a:solidFill>
              </a:rPr>
              <a:t>2 AI生成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953512" y="2633472"/>
            <a:ext cx="1271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代码草稿 + 解释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892040" y="2148840"/>
            <a:ext cx="1600200" cy="1325880"/>
          </a:xfrm>
          <a:prstGeom prst="roundRect">
            <a:avLst>
              <a:gd name="adj" fmla="val 12414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056632" y="22951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72FF"/>
                </a:solidFill>
              </a:rPr>
              <a:t>3 本地运行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56632" y="2633472"/>
            <a:ext cx="1271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看是否报错 / 是否输出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995160" y="2148840"/>
            <a:ext cx="1600200" cy="1325880"/>
          </a:xfrm>
          <a:prstGeom prst="roundRect">
            <a:avLst>
              <a:gd name="adj" fmla="val 12414"/>
            </a:avLst>
          </a:prstGeom>
          <a:solidFill>
            <a:srgbClr val="EAFBF5"/>
          </a:solidFill>
          <a:ln w="12700">
            <a:solidFill>
              <a:srgbClr val="EAFBF5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159752" y="22951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BAA85"/>
                </a:solidFill>
              </a:rPr>
              <a:t>4 人工检查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159752" y="2633472"/>
            <a:ext cx="1271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抽样核对、看图、看日志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9098280" y="2148840"/>
            <a:ext cx="1600200" cy="1325880"/>
          </a:xfrm>
          <a:prstGeom prst="roundRect">
            <a:avLst>
              <a:gd name="adj" fmla="val 12414"/>
            </a:avLst>
          </a:prstGeom>
          <a:solidFill>
            <a:srgbClr val="EEF6FF"/>
          </a:solidFill>
          <a:ln w="12700">
            <a:solidFill>
              <a:srgbClr val="EEF6FF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262872" y="2295144"/>
            <a:ext cx="12710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2B72FF"/>
                </a:solidFill>
              </a:rPr>
              <a:t>5 固化复用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262872" y="2633472"/>
            <a:ext cx="127101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101828"/>
                </a:solidFill>
              </a:rPr>
              <a:t>保存脚本，下次一键跑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914400" y="5074920"/>
            <a:ext cx="10287000" cy="713232"/>
          </a:xfrm>
          <a:prstGeom prst="roundRect">
            <a:avLst>
              <a:gd name="adj" fmla="val 23077"/>
            </a:avLst>
          </a:prstGeom>
          <a:solidFill>
            <a:srgbClr val="FFF7E7"/>
          </a:solidFill>
          <a:ln w="12700">
            <a:solidFill>
              <a:srgbClr val="FFF7E7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34440" y="5303520"/>
            <a:ext cx="964692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变化不是“人不用管了”，而是：人从写每一行代码，转向描述需求、审核结果、积累可复用脚本。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10/22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Continue是什么：把AI助手放进代码编辑器里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77240" y="137160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72FF"/>
                </a:solidFill>
              </a:rPr>
              <a:t>Continue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066544"/>
            <a:ext cx="4754880" cy="6766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70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公司内部部署版本可理解为：在VS Code / JetBrains等开发环境里，直接让AI读代码、改代码、解释代码。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446520" y="1371600"/>
            <a:ext cx="2148840" cy="1051560"/>
          </a:xfrm>
          <a:prstGeom prst="roundRect">
            <a:avLst>
              <a:gd name="adj" fmla="val 15652"/>
            </a:avLst>
          </a:prstGeom>
          <a:solidFill>
            <a:srgbClr val="EEF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611112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Autocomplete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29400" y="1956816"/>
            <a:ext cx="1783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边写边补全代码</a:t>
            </a:r>
            <a:endParaRPr lang="en-US" sz="1120" dirty="0"/>
          </a:p>
        </p:txBody>
      </p:sp>
      <p:sp>
        <p:nvSpPr>
          <p:cNvPr id="10" name="Shape 8"/>
          <p:cNvSpPr/>
          <p:nvPr/>
        </p:nvSpPr>
        <p:spPr>
          <a:xfrm>
            <a:off x="8915400" y="1371600"/>
            <a:ext cx="2148840" cy="1051560"/>
          </a:xfrm>
          <a:prstGeom prst="roundRect">
            <a:avLst>
              <a:gd name="adj" fmla="val 15652"/>
            </a:avLst>
          </a:prstGeom>
          <a:solidFill>
            <a:srgbClr val="EAFB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9079992" y="1536192"/>
            <a:ext cx="1783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A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Edit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098280" y="1956816"/>
            <a:ext cx="1783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选中一段代码，直接让AI修改</a:t>
            </a:r>
            <a:endParaRPr lang="en-US" sz="1120" dirty="0"/>
          </a:p>
        </p:txBody>
      </p:sp>
      <p:sp>
        <p:nvSpPr>
          <p:cNvPr id="13" name="Shape 11"/>
          <p:cNvSpPr/>
          <p:nvPr/>
        </p:nvSpPr>
        <p:spPr>
          <a:xfrm>
            <a:off x="6446520" y="2971800"/>
            <a:ext cx="2148840" cy="1051560"/>
          </a:xfrm>
          <a:prstGeom prst="roundRect">
            <a:avLst>
              <a:gd name="adj" fmla="val 15652"/>
            </a:avLst>
          </a:prstGeom>
          <a:solidFill>
            <a:srgbClr val="F3F0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611112" y="3136392"/>
            <a:ext cx="1783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29400" y="3557016"/>
            <a:ext cx="1783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问代码含义、报错原因、思路</a:t>
            </a:r>
            <a:endParaRPr lang="en-US" sz="1120" dirty="0"/>
          </a:p>
        </p:txBody>
      </p:sp>
      <p:sp>
        <p:nvSpPr>
          <p:cNvPr id="16" name="Shape 14"/>
          <p:cNvSpPr/>
          <p:nvPr/>
        </p:nvSpPr>
        <p:spPr>
          <a:xfrm>
            <a:off x="8915400" y="2971800"/>
            <a:ext cx="2148840" cy="1051560"/>
          </a:xfrm>
          <a:prstGeom prst="roundRect">
            <a:avLst>
              <a:gd name="adj" fmla="val 15652"/>
            </a:avLst>
          </a:prstGeom>
          <a:solidFill>
            <a:srgbClr val="FFF7E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9079992" y="3136392"/>
            <a:ext cx="1783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98280" y="3557016"/>
            <a:ext cx="178308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让AI处理多步任务：读文件、改文件、运行命令</a:t>
            </a:r>
            <a:endParaRPr lang="en-US" sz="1120" dirty="0"/>
          </a:p>
        </p:txBody>
      </p:sp>
      <p:sp>
        <p:nvSpPr>
          <p:cNvPr id="19" name="Shape 17"/>
          <p:cNvSpPr/>
          <p:nvPr/>
        </p:nvSpPr>
        <p:spPr>
          <a:xfrm>
            <a:off x="868680" y="5166360"/>
            <a:ext cx="10469880" cy="658368"/>
          </a:xfrm>
          <a:prstGeom prst="roundRect">
            <a:avLst>
              <a:gd name="adj" fmla="val 25000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1143000" y="5367528"/>
            <a:ext cx="9921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657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注意：外部开源Continue项目状态已有变化；内部部署版本以公司IT/平台说明为准。这里介绍的是通用使用方式。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15/22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 PATTERN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Continue怎么用：给它“上下文 + 目标 + 约束 + 验收标准”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444752"/>
            <a:ext cx="2331720" cy="1051560"/>
          </a:xfrm>
          <a:prstGeom prst="roundRect">
            <a:avLst>
              <a:gd name="adj" fmla="val 15652"/>
            </a:avLst>
          </a:prstGeom>
          <a:solidFill>
            <a:srgbClr val="EEF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69848" y="1700784"/>
            <a:ext cx="1920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上下文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2084832"/>
            <a:ext cx="18745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这是哪类数据 / 哪个文件 / 哪个实验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0" y="1444752"/>
            <a:ext cx="2331720" cy="1051560"/>
          </a:xfrm>
          <a:prstGeom prst="roundRect">
            <a:avLst>
              <a:gd name="adj" fmla="val 15652"/>
            </a:avLst>
          </a:prstGeom>
          <a:solidFill>
            <a:srgbClr val="EAFB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858768" y="1700784"/>
            <a:ext cx="1920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A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886200" y="2084832"/>
            <a:ext cx="18745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希望得到什么输出：表格、图、脚本、报告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46520" y="1444752"/>
            <a:ext cx="2331720" cy="1051560"/>
          </a:xfrm>
          <a:prstGeom prst="roundRect">
            <a:avLst>
              <a:gd name="adj" fmla="val 15652"/>
            </a:avLst>
          </a:prstGeom>
          <a:solidFill>
            <a:srgbClr val="F3F0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47688" y="1700784"/>
            <a:ext cx="1920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2084832"/>
            <a:ext cx="18745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不能改哪些文件；用Python；输出到哪个文件夹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35440" y="1444752"/>
            <a:ext cx="2331720" cy="1051560"/>
          </a:xfrm>
          <a:prstGeom prst="roundRect">
            <a:avLst>
              <a:gd name="adj" fmla="val 15652"/>
            </a:avLst>
          </a:prstGeom>
          <a:solidFill>
            <a:srgbClr val="FFF7E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436608" y="1700784"/>
            <a:ext cx="19202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9464040" y="2084832"/>
            <a:ext cx="18745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给样例；说明如何检查；要求添加注释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1051560" y="3657600"/>
            <a:ext cx="10104120" cy="1417320"/>
          </a:xfrm>
          <a:prstGeom prst="roundRect">
            <a:avLst>
              <a:gd name="adj" fmla="val 11613"/>
            </a:avLst>
          </a:prstGeom>
          <a:solidFill>
            <a:srgbClr val="12213C"/>
          </a:solidFill>
          <a:ln w="12700">
            <a:solidFill>
              <a:srgbClr val="12213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25880" y="3913632"/>
            <a:ext cx="1143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DDCFF"/>
                </a:solidFill>
              </a:rPr>
              <a:t>示例提示词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514600" y="3858768"/>
            <a:ext cx="80924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“请帮我写一个Python脚本：读取data文件夹下所有CSV，按sample_id合并，计算每组mean和std，画一张趋势图，输出summary.xlsx和trend.png。代码要有注释，并告诉我如何运行。”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97280" y="5715000"/>
            <a:ext cx="100584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好提示词不是“帮我写代码”，而是把任务边界讲清楚。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16/22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 CASE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一个非程序员也能理解的小案例：批量处理实验数据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670048" y="2788920"/>
            <a:ext cx="411480" cy="0"/>
          </a:xfrm>
          <a:prstGeom prst="line">
            <a:avLst/>
          </a:prstGeom>
          <a:noFill/>
          <a:ln w="12700">
            <a:solidFill>
              <a:srgbClr val="2B7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276088" y="2788920"/>
            <a:ext cx="411480" cy="0"/>
          </a:xfrm>
          <a:prstGeom prst="line">
            <a:avLst/>
          </a:prstGeom>
          <a:noFill/>
          <a:ln w="12700">
            <a:solidFill>
              <a:srgbClr val="2B7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7882128" y="2788920"/>
            <a:ext cx="411480" cy="0"/>
          </a:xfrm>
          <a:prstGeom prst="line">
            <a:avLst/>
          </a:prstGeom>
          <a:noFill/>
          <a:ln w="12700">
            <a:solidFill>
              <a:srgbClr val="2B72FF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49808" y="2011680"/>
            <a:ext cx="2057400" cy="1508760"/>
          </a:xfrm>
          <a:prstGeom prst="roundRect">
            <a:avLst>
              <a:gd name="adj" fmla="val 10909"/>
            </a:avLst>
          </a:prstGeom>
          <a:solidFill>
            <a:srgbClr val="EEF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32688" y="2286000"/>
            <a:ext cx="16916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原始数据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78408" y="2724912"/>
            <a:ext cx="16002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多个CSV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样品编号、温度、电阻</a:t>
            </a:r>
            <a:endParaRPr lang="en-US" sz="1120" dirty="0"/>
          </a:p>
        </p:txBody>
      </p:sp>
      <p:sp>
        <p:nvSpPr>
          <p:cNvPr id="11" name="Shape 9"/>
          <p:cNvSpPr/>
          <p:nvPr/>
        </p:nvSpPr>
        <p:spPr>
          <a:xfrm>
            <a:off x="3355848" y="2011680"/>
            <a:ext cx="2057400" cy="1508760"/>
          </a:xfrm>
          <a:prstGeom prst="roundRect">
            <a:avLst>
              <a:gd name="adj" fmla="val 10909"/>
            </a:avLst>
          </a:prstGeom>
          <a:solidFill>
            <a:srgbClr val="EAFB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538728" y="2286000"/>
            <a:ext cx="16916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BA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AI写脚本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584448" y="2724912"/>
            <a:ext cx="16002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→ 合并 → 清洗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统计mean/std</a:t>
            </a:r>
            <a:endParaRPr lang="en-US" sz="1120" dirty="0"/>
          </a:p>
        </p:txBody>
      </p:sp>
      <p:sp>
        <p:nvSpPr>
          <p:cNvPr id="14" name="Shape 12"/>
          <p:cNvSpPr/>
          <p:nvPr/>
        </p:nvSpPr>
        <p:spPr>
          <a:xfrm>
            <a:off x="5961888" y="2011680"/>
            <a:ext cx="2057400" cy="1508760"/>
          </a:xfrm>
          <a:prstGeom prst="roundRect">
            <a:avLst>
              <a:gd name="adj" fmla="val 10909"/>
            </a:avLst>
          </a:prstGeom>
          <a:solidFill>
            <a:srgbClr val="FFF7E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144768" y="2286000"/>
            <a:ext cx="16916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输出结果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190488" y="2724912"/>
            <a:ext cx="16002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summary.xlsx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trend.png</a:t>
            </a:r>
            <a:endParaRPr lang="en-US" sz="1120" dirty="0"/>
          </a:p>
        </p:txBody>
      </p:sp>
      <p:sp>
        <p:nvSpPr>
          <p:cNvPr id="17" name="Shape 15"/>
          <p:cNvSpPr/>
          <p:nvPr/>
        </p:nvSpPr>
        <p:spPr>
          <a:xfrm>
            <a:off x="8567928" y="2011680"/>
            <a:ext cx="2057400" cy="1508760"/>
          </a:xfrm>
          <a:prstGeom prst="roundRect">
            <a:avLst>
              <a:gd name="adj" fmla="val 10909"/>
            </a:avLst>
          </a:prstGeom>
          <a:solidFill>
            <a:srgbClr val="F3F0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750808" y="2286000"/>
            <a:ext cx="1691640" cy="20116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人工核对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796528" y="2724912"/>
            <a:ext cx="160020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抽样看几行</a:t>
            </a:r>
            <a:endParaRPr lang="en-US" sz="1120" dirty="0"/>
          </a:p>
          <a:p>
            <a:pPr algn="ctr" indent="0" marL="0">
              <a:buNone/>
            </a:pPr>
            <a:r>
              <a:rPr lang="en-US" sz="112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确认图趋势合理</a:t>
            </a:r>
            <a:endParaRPr lang="en-US" sz="1120" dirty="0"/>
          </a:p>
        </p:txBody>
      </p:sp>
      <p:sp>
        <p:nvSpPr>
          <p:cNvPr id="20" name="Shape 18"/>
          <p:cNvSpPr/>
          <p:nvPr/>
        </p:nvSpPr>
        <p:spPr>
          <a:xfrm>
            <a:off x="914400" y="4846320"/>
            <a:ext cx="10241280" cy="804672"/>
          </a:xfrm>
          <a:prstGeom prst="roundRect">
            <a:avLst>
              <a:gd name="adj" fmla="val 20455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234440" y="5102352"/>
            <a:ext cx="964692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收益：第一次可能要调试，但调通后，同类数据下次只需要换文件夹；这就是代码的“复利”。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17/22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FOR RESEARCH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AI在科研中的位置：贯穿“读、想、做、写”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pic>
        <p:nvPicPr>
          <p:cNvPr id="5" name="Image 0" descr="/mnt/data/research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261872"/>
            <a:ext cx="10881360" cy="3566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143000" y="515721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EF6FF"/>
          </a:solidFill>
          <a:ln w="12700">
            <a:solidFill>
              <a:srgbClr val="EEF6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1216152" y="522122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B72FF"/>
                </a:solidFill>
              </a:rPr>
              <a:t>文献调研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685032" y="515721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EAFBF5"/>
          </a:solidFill>
          <a:ln w="12700">
            <a:solidFill>
              <a:srgbClr val="EAFBF5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3758184" y="522122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BAA85"/>
                </a:solidFill>
              </a:rPr>
              <a:t>实验设计辅助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227064" y="515721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3F0FF"/>
          </a:solidFill>
          <a:ln w="12700">
            <a:solidFill>
              <a:srgbClr val="F3F0FF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1" name="Text 8"/>
          <p:cNvSpPr/>
          <p:nvPr/>
        </p:nvSpPr>
        <p:spPr>
          <a:xfrm>
            <a:off x="6300216" y="522122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557F6"/>
                </a:solidFill>
              </a:rPr>
              <a:t>数据处理与画图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8769096" y="5157216"/>
            <a:ext cx="1600200" cy="329184"/>
          </a:xfrm>
          <a:prstGeom prst="roundRect">
            <a:avLst>
              <a:gd name="adj" fmla="val 50000"/>
            </a:avLst>
          </a:prstGeom>
          <a:solidFill>
            <a:srgbClr val="FFF7E7"/>
          </a:solidFill>
          <a:ln w="12700">
            <a:solidFill>
              <a:srgbClr val="FFF7E7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8842248" y="522122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A524"/>
                </a:solidFill>
              </a:rPr>
              <a:t>写作与汇报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868680" y="5833872"/>
            <a:ext cx="1051560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4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科研里AI最适合做“助理工作”：加速信息处理、生成备选方案、提高表达效率；最终结论仍然要靠实验事实和专业判断。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18/22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RESEARCH TASKS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科研场景：AI具体能帮哪些忙？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417320"/>
            <a:ext cx="4937760" cy="1234440"/>
          </a:xfrm>
          <a:prstGeom prst="roundRect">
            <a:avLst>
              <a:gd name="adj" fmla="val 13333"/>
            </a:avLst>
          </a:prstGeom>
          <a:solidFill>
            <a:srgbClr val="EEF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97280" y="1645920"/>
            <a:ext cx="155448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文献调研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0" y="1600200"/>
            <a:ext cx="27889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找关键词、做对比表、提炼方法/指标、生成阅读清单</a:t>
            </a:r>
            <a:endParaRPr lang="en-US" sz="1280" dirty="0"/>
          </a:p>
        </p:txBody>
      </p:sp>
      <p:sp>
        <p:nvSpPr>
          <p:cNvPr id="8" name="Shape 6"/>
          <p:cNvSpPr/>
          <p:nvPr/>
        </p:nvSpPr>
        <p:spPr>
          <a:xfrm>
            <a:off x="868680" y="3291840"/>
            <a:ext cx="4937760" cy="1234440"/>
          </a:xfrm>
          <a:prstGeom prst="roundRect">
            <a:avLst>
              <a:gd name="adj" fmla="val 13333"/>
            </a:avLst>
          </a:prstGeom>
          <a:solidFill>
            <a:srgbClr val="EAFB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1097280" y="3520440"/>
            <a:ext cx="155448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BA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实验设计辅助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743200" y="3474720"/>
            <a:ext cx="27889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列变量、控制组、风险点、测试矩阵、DOE思路</a:t>
            </a:r>
            <a:endParaRPr lang="en-US" sz="1280" dirty="0"/>
          </a:p>
        </p:txBody>
      </p:sp>
      <p:sp>
        <p:nvSpPr>
          <p:cNvPr id="11" name="Shape 9"/>
          <p:cNvSpPr/>
          <p:nvPr/>
        </p:nvSpPr>
        <p:spPr>
          <a:xfrm>
            <a:off x="6172200" y="1417320"/>
            <a:ext cx="4937760" cy="1234440"/>
          </a:xfrm>
          <a:prstGeom prst="roundRect">
            <a:avLst>
              <a:gd name="adj" fmla="val 13333"/>
            </a:avLst>
          </a:prstGeom>
          <a:solidFill>
            <a:srgbClr val="F3F0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00800" y="1645920"/>
            <a:ext cx="155448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数据处理与画图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046720" y="1600200"/>
            <a:ext cx="27889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清洗数据、异常值检查、统计、画趋势图/箱线图/散点图</a:t>
            </a:r>
            <a:endParaRPr lang="en-US" sz="1280" dirty="0"/>
          </a:p>
        </p:txBody>
      </p:sp>
      <p:sp>
        <p:nvSpPr>
          <p:cNvPr id="14" name="Shape 12"/>
          <p:cNvSpPr/>
          <p:nvPr/>
        </p:nvSpPr>
        <p:spPr>
          <a:xfrm>
            <a:off x="6172200" y="3291840"/>
            <a:ext cx="4937760" cy="1234440"/>
          </a:xfrm>
          <a:prstGeom prst="roundRect">
            <a:avLst>
              <a:gd name="adj" fmla="val 13333"/>
            </a:avLst>
          </a:prstGeom>
          <a:solidFill>
            <a:srgbClr val="FFF7E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6400800" y="3520440"/>
            <a:ext cx="1554480" cy="21945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写作与汇报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46720" y="3474720"/>
            <a:ext cx="2788920" cy="493776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indent="0" marL="0">
              <a:buNone/>
            </a:pPr>
            <a:r>
              <a:rPr lang="en-US" sz="128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摘要、周报、专利交底初稿、PPT逻辑、讲稿</a:t>
            </a:r>
            <a:endParaRPr lang="en-US" sz="1280" dirty="0"/>
          </a:p>
        </p:txBody>
      </p:sp>
      <p:sp>
        <p:nvSpPr>
          <p:cNvPr id="17" name="Shape 15"/>
          <p:cNvSpPr/>
          <p:nvPr/>
        </p:nvSpPr>
        <p:spPr>
          <a:xfrm>
            <a:off x="1097280" y="5623560"/>
            <a:ext cx="10012680" cy="502920"/>
          </a:xfrm>
          <a:prstGeom prst="roundRect">
            <a:avLst>
              <a:gd name="adj" fmla="val 32727"/>
            </a:avLst>
          </a:prstGeom>
          <a:solidFill>
            <a:srgbClr val="12213C"/>
          </a:solidFill>
          <a:ln w="12700">
            <a:solidFill>
              <a:srgbClr val="12213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1325880" y="5779008"/>
            <a:ext cx="955548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推荐问法：让AI“列框架、给检查清单、指出遗漏、生成可验证的下一步”，不要只让它“给结论”。</a:t>
            </a:r>
            <a:endParaRPr lang="en-US" sz="1320" dirty="0"/>
          </a:p>
        </p:txBody>
      </p:sp>
      <p:sp>
        <p:nvSpPr>
          <p:cNvPr id="19" name="Text 17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19/22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SAFE USE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落地规范：把AI当“助手”，不要当“最终责任人”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572768"/>
            <a:ext cx="2331720" cy="2971800"/>
          </a:xfrm>
          <a:prstGeom prst="roundRect">
            <a:avLst>
              <a:gd name="adj" fmla="val 7059"/>
            </a:avLst>
          </a:prstGeom>
          <a:solidFill>
            <a:srgbClr val="EEF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69848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161288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优先用公司内部署工具；不上传敏感数据到公网AI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657600" y="1572768"/>
            <a:ext cx="2331720" cy="2971800"/>
          </a:xfrm>
          <a:prstGeom prst="roundRect">
            <a:avLst>
              <a:gd name="adj" fmla="val 7059"/>
            </a:avLst>
          </a:prstGeom>
          <a:solidFill>
            <a:srgbClr val="EAFB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858768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A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950208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关键数字、文献结论、代码输出都要抽样核对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446520" y="1572768"/>
            <a:ext cx="2331720" cy="2971800"/>
          </a:xfrm>
          <a:prstGeom prst="roundRect">
            <a:avLst>
              <a:gd name="adj" fmla="val 7059"/>
            </a:avLst>
          </a:prstGeom>
          <a:solidFill>
            <a:srgbClr val="F3F0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47688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留痕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739128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保存提示词、脚本版本、输入输出文件，方便复查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9235440" y="1572768"/>
            <a:ext cx="2331720" cy="2971800"/>
          </a:xfrm>
          <a:prstGeom prst="roundRect">
            <a:avLst>
              <a:gd name="adj" fmla="val 7059"/>
            </a:avLst>
          </a:prstGeom>
          <a:solidFill>
            <a:srgbClr val="FFF7E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436608" y="1883664"/>
            <a:ext cx="1920240" cy="274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分级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9528048" y="2633472"/>
            <a:ext cx="1737360" cy="8686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低风险先用：公开资料、格式转换、草稿、内部小工具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097280" y="5577840"/>
            <a:ext cx="996696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一句话原则：AI可以帮你快，但不能帮你背锅。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20/22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274320"/>
            <a:ext cx="8229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STARTER PLAN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58368" y="640080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建议的30天入门路线：先用起来，再做自动化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10881360" cy="0"/>
          </a:xfrm>
          <a:prstGeom prst="line">
            <a:avLst/>
          </a:prstGeom>
          <a:noFill/>
          <a:ln w="12700">
            <a:solidFill>
              <a:srgbClr val="E6EBF2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2971800" y="3063240"/>
            <a:ext cx="45720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5623560" y="3063240"/>
            <a:ext cx="45720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275320" y="3063240"/>
            <a:ext cx="457200" cy="0"/>
          </a:xfrm>
          <a:prstGeom prst="line">
            <a:avLst/>
          </a:prstGeom>
          <a:noFill/>
          <a:ln w="12700">
            <a:solidFill>
              <a:srgbClr val="65758B"/>
            </a:solidFill>
            <a:prstDash val="solid"/>
            <a:headEnd type="none"/>
            <a:tailEnd type="triangle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2057400"/>
            <a:ext cx="2240280" cy="2011680"/>
          </a:xfrm>
          <a:prstGeom prst="roundRect">
            <a:avLst>
              <a:gd name="adj" fmla="val 8182"/>
            </a:avLst>
          </a:prstGeom>
          <a:solidFill>
            <a:srgbClr val="EEF6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2331720"/>
            <a:ext cx="18745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B72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第1周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834640"/>
            <a:ext cx="18745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把AI当阅读/写作助手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96012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57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总结论文、改邮件、列PPT大纲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474720" y="2057400"/>
            <a:ext cx="2240280" cy="2011680"/>
          </a:xfrm>
          <a:prstGeom prst="roundRect">
            <a:avLst>
              <a:gd name="adj" fmla="val 8182"/>
            </a:avLst>
          </a:prstGeom>
          <a:solidFill>
            <a:srgbClr val="EAFBF5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3657600" y="2331720"/>
            <a:ext cx="18745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AA8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第2周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657600" y="2834640"/>
            <a:ext cx="18745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把AI当表格助手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70332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57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让AI帮你设计Excel公式、清洗规则</a:t>
            </a:r>
            <a:endParaRPr lang="en-US" sz="108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2240280" cy="2011680"/>
          </a:xfrm>
          <a:prstGeom prst="roundRect">
            <a:avLst>
              <a:gd name="adj" fmla="val 8182"/>
            </a:avLst>
          </a:prstGeom>
          <a:solidFill>
            <a:srgbClr val="F3F0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400800" y="2331720"/>
            <a:ext cx="18745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7557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第3周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00800" y="2834640"/>
            <a:ext cx="18745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让AI写第一个Python脚本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44652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57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从一个文件夹读CSV并画图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8961120" y="2057400"/>
            <a:ext cx="2240280" cy="2011680"/>
          </a:xfrm>
          <a:prstGeom prst="roundRect">
            <a:avLst>
              <a:gd name="adj" fmla="val 8182"/>
            </a:avLst>
          </a:prstGeom>
          <a:solidFill>
            <a:srgbClr val="FFF7E7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144000" y="2331720"/>
            <a:ext cx="1874520" cy="2286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A52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第4周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44000" y="2834640"/>
            <a:ext cx="1874520" cy="25603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用Continue做小工具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9189720" y="3310128"/>
            <a:ext cx="178308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6575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让AI改代码、解释报错、固化脚本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1005840" y="5212080"/>
            <a:ext cx="10149840" cy="530352"/>
          </a:xfrm>
          <a:prstGeom prst="roundRect">
            <a:avLst>
              <a:gd name="adj" fmla="val 31034"/>
            </a:avLst>
          </a:prstGeom>
          <a:solidFill>
            <a:srgbClr val="F5F7FA"/>
          </a:solidFill>
          <a:ln w="12700">
            <a:solidFill>
              <a:srgbClr val="F5F7F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1280160" y="5394960"/>
            <a:ext cx="9601200" cy="146304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13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不要一上来做“大系统”；从一个重复的小任务开始，跑通一次，就很有感觉。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1201400" y="6473952"/>
            <a:ext cx="5303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sz="650">
                <a:solidFill>
                  <a:srgbClr val="788296"/>
                </a:solidFill>
                <a:latin typeface="Noto Sans CJK SC"/>
              </a:rPr>
              <a:t>21/22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3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coding_right_crop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0" y="0"/>
            <a:ext cx="597103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6217920" cy="6858000"/>
          </a:xfrm>
          <a:prstGeom prst="rect">
            <a:avLst/>
          </a:prstGeom>
          <a:solidFill>
            <a:srgbClr val="0B1324"/>
          </a:solidFill>
          <a:ln w="12700">
            <a:solidFill>
              <a:srgbClr val="0B1324">
                <a:alpha val="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" name="Text 1"/>
          <p:cNvSpPr/>
          <p:nvPr/>
        </p:nvSpPr>
        <p:spPr>
          <a:xfrm>
            <a:off x="777240" y="91440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最后记住三句话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187452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9DDCFF"/>
                </a:solidFill>
              </a:rPr>
              <a:t>AI先帮你“快出草稿”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914400" y="2258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7FF"/>
                </a:solidFill>
              </a:rPr>
              <a:t>但关键结论要验证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292608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6EFAC"/>
                </a:solidFill>
              </a:rPr>
              <a:t>代码就是可执行SOP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31012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7FF"/>
                </a:solidFill>
              </a:rPr>
              <a:t>适合重复、批量、可追溯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BD38D"/>
                </a:solidFill>
              </a:rPr>
              <a:t>Continue让写代码门槛降低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14400" y="43616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7E7FF"/>
                </a:solidFill>
              </a:rPr>
              <a:t>但人仍负责需求和验收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822960" y="6327648"/>
            <a:ext cx="5257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8EA6C8"/>
                </a:solidFill>
              </a:rPr>
              <a:t>资料来源：Continue Docs / Visual Studio Marketplace / GitHub README（公开资料，查询于2026-07-10）。内部部署以公司平台说明为准。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310896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2A73FF"/>
                </a:solidFill>
                <a:latin typeface="Noto Sans CJK SC"/>
              </a:rPr>
              <a:t>AGENT 101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1498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8142A"/>
                </a:solidFill>
                <a:latin typeface="Noto Sans CJK SC"/>
              </a:rPr>
              <a:t>Agent是什么：不是更神秘的AI，而是“大模型 + 工具 + 任务流程”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014984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324155"/>
                </a:solidFill>
                <a:latin typeface="Noto Sans CJK SC"/>
              </a:rPr>
              <a:t>一句话：GPT像“会聊天的大脑”，Agent像“会用工具干活的大脑”。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11128248" cy="0"/>
          </a:xfrm>
          <a:prstGeom prst="line">
            <a:avLst/>
          </a:prstGeom>
          <a:ln w="7620">
            <a:solidFill>
              <a:srgbClr val="DC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2788920" y="2788920"/>
            <a:ext cx="1188719" cy="0"/>
          </a:xfrm>
          <a:prstGeom prst="line">
            <a:avLst/>
          </a:prstGeom>
          <a:ln w="16510">
            <a:solidFill>
              <a:srgbClr val="2A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5440680" y="2788920"/>
            <a:ext cx="1188720" cy="0"/>
          </a:xfrm>
          <a:prstGeom prst="line">
            <a:avLst/>
          </a:prstGeom>
          <a:ln w="16510">
            <a:solidFill>
              <a:srgbClr val="2A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092440" y="2788920"/>
            <a:ext cx="1188720" cy="0"/>
          </a:xfrm>
          <a:prstGeom prst="line">
            <a:avLst/>
          </a:prstGeom>
          <a:ln w="16510">
            <a:solidFill>
              <a:srgbClr val="2A73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731520" y="2057400"/>
            <a:ext cx="2057400" cy="1417320"/>
          </a:xfrm>
          <a:prstGeom prst="roundRect">
            <a:avLst/>
          </a:prstGeom>
          <a:solidFill>
            <a:srgbClr val="EAF2FF"/>
          </a:solidFill>
          <a:ln w="635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185416"/>
            <a:ext cx="1728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2A73FF"/>
                </a:solidFill>
                <a:latin typeface="Noto Sans CJK SC"/>
              </a:rPr>
              <a:t>大模型 / LLM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2478024"/>
            <a:ext cx="1728216" cy="8869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理解语言</a:t>
            </a:r>
          </a:p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生成文字/代码</a:t>
            </a:r>
          </a:p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给出推理建议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77639" y="2057400"/>
            <a:ext cx="1463040" cy="1417320"/>
          </a:xfrm>
          <a:prstGeom prst="roundRect">
            <a:avLst/>
          </a:prstGeom>
          <a:solidFill>
            <a:srgbClr val="F2EDFF"/>
          </a:solidFill>
          <a:ln w="6350">
            <a:solidFill>
              <a:srgbClr val="F2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42231" y="2185416"/>
            <a:ext cx="11338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825CF5"/>
                </a:solidFill>
                <a:latin typeface="Noto Sans CJK SC"/>
              </a:rPr>
              <a:t>计划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42231" y="2478024"/>
            <a:ext cx="1133856" cy="8869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拆任务</a:t>
            </a:r>
          </a:p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排步骤</a:t>
            </a:r>
          </a:p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决定下一步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629400" y="2057400"/>
            <a:ext cx="1463040" cy="1417320"/>
          </a:xfrm>
          <a:prstGeom prst="roundRect">
            <a:avLst/>
          </a:prstGeom>
          <a:solidFill>
            <a:srgbClr val="E5F8F1"/>
          </a:solidFill>
          <a:ln w="6350">
            <a:solidFill>
              <a:srgbClr val="E5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93992" y="2185416"/>
            <a:ext cx="11338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18AC84"/>
                </a:solidFill>
                <a:latin typeface="Noto Sans CJK SC"/>
              </a:rPr>
              <a:t>工具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2478024"/>
            <a:ext cx="1133856" cy="8869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读文件</a:t>
            </a:r>
          </a:p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写代码</a:t>
            </a:r>
          </a:p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跑命令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81160" y="2057400"/>
            <a:ext cx="2057400" cy="1417320"/>
          </a:xfrm>
          <a:prstGeom prst="roundRect">
            <a:avLst/>
          </a:prstGeom>
          <a:solidFill>
            <a:srgbClr val="FFF7E8"/>
          </a:solidFill>
          <a:ln w="635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45752" y="2185416"/>
            <a:ext cx="17282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400" b="1">
                <a:solidFill>
                  <a:srgbClr val="F5A623"/>
                </a:solidFill>
                <a:latin typeface="Noto Sans CJK SC"/>
              </a:rPr>
              <a:t>反馈迭代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45752" y="2478024"/>
            <a:ext cx="1728216" cy="88696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看结果</a:t>
            </a:r>
          </a:p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修错误</a:t>
            </a:r>
          </a:p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直到完成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663440"/>
            <a:ext cx="10607040" cy="713232"/>
          </a:xfrm>
          <a:prstGeom prst="roundRect">
            <a:avLst/>
          </a:prstGeom>
          <a:solidFill>
            <a:srgbClr val="F6F8FC"/>
          </a:solidFill>
          <a:ln w="635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4846320"/>
            <a:ext cx="10058400" cy="29260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08142A"/>
                </a:solidFill>
                <a:latin typeface="Noto Sans CJK SC"/>
              </a:rPr>
              <a:t>类比：普通GPT像“你问一句，它答一句”；Agent像“你交代一个目标，它会自己拆步骤、用工具、边做边改”。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715000"/>
            <a:ext cx="3337560" cy="566928"/>
          </a:xfrm>
          <a:prstGeom prst="roundRect">
            <a:avLst/>
          </a:prstGeom>
          <a:solidFill>
            <a:srgbClr val="FFEBEE"/>
          </a:solidFill>
          <a:ln w="6350">
            <a:solidFill>
              <a:srgbClr val="FF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843016"/>
            <a:ext cx="30083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E65A64"/>
                </a:solidFill>
                <a:latin typeface="Noto Sans CJK SC"/>
              </a:rPr>
              <a:t>人仍然负责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6135624"/>
            <a:ext cx="3008376" cy="365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目标、边界、验收标准必须由人定。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407408" y="5715000"/>
            <a:ext cx="3337560" cy="566928"/>
          </a:xfrm>
          <a:prstGeom prst="roundRect">
            <a:avLst/>
          </a:prstGeom>
          <a:solidFill>
            <a:srgbClr val="FFF7E8"/>
          </a:solidFill>
          <a:ln w="635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0" y="5843016"/>
            <a:ext cx="300837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F5A623"/>
                </a:solidFill>
                <a:latin typeface="Noto Sans CJK SC"/>
              </a:rPr>
              <a:t>不是全自动正确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135624"/>
            <a:ext cx="3008376" cy="365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能执行不代表一定对，结果要审查。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92440" y="5715000"/>
            <a:ext cx="3246120" cy="566928"/>
          </a:xfrm>
          <a:prstGeom prst="roundRect">
            <a:avLst/>
          </a:prstGeom>
          <a:solidFill>
            <a:srgbClr val="EAF2FF"/>
          </a:solidFill>
          <a:ln w="635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57031" y="5843016"/>
            <a:ext cx="29169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100" b="1">
                <a:solidFill>
                  <a:srgbClr val="2A73FF"/>
                </a:solidFill>
                <a:latin typeface="Noto Sans CJK SC"/>
              </a:rPr>
              <a:t>适合多步任务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57031" y="6135624"/>
            <a:ext cx="2916936" cy="36576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特别适合“改代码—运行—看报错—再修”。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650" b="0">
                <a:solidFill>
                  <a:srgbClr val="788296"/>
                </a:solidFill>
                <a:latin typeface="Noto Sans CJK SC"/>
              </a:rPr>
              <a:t>11/22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310896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2A73FF"/>
                </a:solidFill>
                <a:latin typeface="Noto Sans CJK SC"/>
              </a:rPr>
              <a:t>GPT VS 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1498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8142A"/>
                </a:solidFill>
                <a:latin typeface="Noto Sans CJK SC"/>
              </a:rPr>
              <a:t>GPT式AI和Agent式AI：核心区别是“只回答”还是“会执行”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28248" cy="0"/>
          </a:xfrm>
          <a:prstGeom prst="line">
            <a:avLst/>
          </a:prstGeom>
          <a:ln w="7620">
            <a:solidFill>
              <a:srgbClr val="DC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508760"/>
            <a:ext cx="5074920" cy="4434840"/>
          </a:xfrm>
          <a:prstGeom prst="roundRect">
            <a:avLst/>
          </a:prstGeom>
          <a:solidFill>
            <a:srgbClr val="EAF2FF"/>
          </a:solidFill>
          <a:ln w="635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36776"/>
            <a:ext cx="47457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A73FF"/>
                </a:solidFill>
                <a:latin typeface="Noto Sans CJK SC"/>
              </a:rPr>
              <a:t>GPT式AI：对话助手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929384"/>
            <a:ext cx="4745736" cy="39044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典型动作：</a:t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• 回答问题、总结材料、解释概念</a:t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• 帮你写一段文字或一段代码</a:t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• 需要你把结果复制到软件里执行</a:t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/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更像：咨询顾问 / 写作助手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508760"/>
            <a:ext cx="5074920" cy="4434840"/>
          </a:xfrm>
          <a:prstGeom prst="roundRect">
            <a:avLst/>
          </a:prstGeom>
          <a:solidFill>
            <a:srgbClr val="E5F8F1"/>
          </a:solidFill>
          <a:ln w="6350">
            <a:solidFill>
              <a:srgbClr val="E5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73952" y="1636776"/>
            <a:ext cx="474573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AC84"/>
                </a:solidFill>
                <a:latin typeface="Noto Sans CJK SC"/>
              </a:rPr>
              <a:t>Agent式AI：任务助手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73952" y="1929384"/>
            <a:ext cx="4745736" cy="3904487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典型动作：</a:t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• 读取项目文件、理解目录结构</a:t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• 生成或修改代码，并可尝试运行</a:t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• 根据报错继续修复，直到接近目标</a:t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/>
            </a:r>
          </a:p>
          <a:p>
            <a:pPr algn="l"/>
            <a:r>
              <a:rPr sz="1100">
                <a:solidFill>
                  <a:srgbClr val="324155"/>
                </a:solidFill>
                <a:latin typeface="Noto Sans CJK SC"/>
              </a:rPr>
              <a:t>更像：带工具的实习生 / 编程搭档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94960" y="2926080"/>
            <a:ext cx="1097280" cy="0"/>
          </a:xfrm>
          <a:prstGeom prst="line">
            <a:avLst/>
          </a:prstGeom>
          <a:ln w="25400">
            <a:solidFill>
              <a:srgbClr val="825CF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257800" y="2450592"/>
            <a:ext cx="141732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825CF5"/>
                </a:solidFill>
                <a:latin typeface="Noto Sans CJK SC"/>
              </a:rPr>
              <a:t>从“答复”到“执行”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120" y="6144768"/>
            <a:ext cx="10241280" cy="384048"/>
          </a:xfrm>
          <a:prstGeom prst="roundRect">
            <a:avLst/>
          </a:prstGeom>
          <a:solidFill>
            <a:srgbClr val="08142A"/>
          </a:solidFill>
          <a:ln w="6350">
            <a:solidFill>
              <a:srgbClr val="08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6236208"/>
            <a:ext cx="996696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Noto Sans CJK SC"/>
              </a:rPr>
              <a:t>人的角色变化：少一点“逐句指挥”，多一点“定义任务、提供上下文、检查结果”。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650" b="0">
                <a:solidFill>
                  <a:srgbClr val="788296"/>
                </a:solidFill>
                <a:latin typeface="Noto Sans CJK SC"/>
              </a:rPr>
              <a:t>12/22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310896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2A73FF"/>
                </a:solidFill>
                <a:latin typeface="Noto Sans CJK SC"/>
              </a:rPr>
              <a:t>OPENCODE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1498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8142A"/>
                </a:solidFill>
                <a:latin typeface="Noto Sans CJK SC"/>
              </a:rPr>
              <a:t>OpenCode是什么：面向代码项目的Agent工具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12064" y="1014984"/>
            <a:ext cx="1005840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950" b="0">
                <a:solidFill>
                  <a:srgbClr val="324155"/>
                </a:solidFill>
                <a:latin typeface="Noto Sans CJK SC"/>
              </a:rPr>
              <a:t>可以理解为：在终端 / IDE / 桌面里工作的“AI编程代理”，更偏向让AI直接参与改代码、跑命令、修问题。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170432"/>
            <a:ext cx="11128248" cy="0"/>
          </a:xfrm>
          <a:prstGeom prst="line">
            <a:avLst/>
          </a:prstGeom>
          <a:ln w="7620">
            <a:solidFill>
              <a:srgbClr val="DC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685800" y="1600200"/>
            <a:ext cx="4754880" cy="3794760"/>
          </a:xfrm>
          <a:prstGeom prst="roundRect">
            <a:avLst/>
          </a:prstGeom>
          <a:solidFill>
            <a:srgbClr val="08142A"/>
          </a:solidFill>
          <a:ln w="6350">
            <a:solidFill>
              <a:srgbClr val="0814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74519"/>
            <a:ext cx="42062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500" b="1">
                <a:solidFill>
                  <a:srgbClr val="93C5FD"/>
                </a:solidFill>
                <a:latin typeface="Noto Sans CJK SC"/>
              </a:rPr>
              <a:t>$ opencode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267712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Noto Sans CJK SC"/>
              </a:rPr>
              <a:t>用户：帮我把10个CSV合并，画出趋势图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688336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Noto Sans CJK SC"/>
              </a:rPr>
              <a:t>Agent：读取目录 → 写Python脚本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3108960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Noto Sans CJK SC"/>
              </a:rPr>
              <a:t>Agent：运行脚本 → 发现列名不一致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3529584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Noto Sans CJK SC"/>
              </a:rPr>
              <a:t>Agent：修改清洗逻辑 → 重新运行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3950208"/>
            <a:ext cx="416052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050" b="0">
                <a:solidFill>
                  <a:srgbClr val="E2E8F0"/>
                </a:solidFill>
                <a:latin typeface="Noto Sans CJK SC"/>
              </a:rPr>
              <a:t>输出：summary.xlsx + trend.png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806440" y="1554480"/>
            <a:ext cx="2514600" cy="1078992"/>
          </a:xfrm>
          <a:prstGeom prst="roundRect">
            <a:avLst/>
          </a:prstGeom>
          <a:solidFill>
            <a:srgbClr val="EAF2FF"/>
          </a:solidFill>
          <a:ln w="635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71031" y="1682495"/>
            <a:ext cx="21854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2A73FF"/>
                </a:solidFill>
                <a:latin typeface="Noto Sans CJK SC"/>
              </a:rPr>
              <a:t>能做什么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71031" y="1975104"/>
            <a:ext cx="2185416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读项目、改代码、运行命令、根据报错继续修。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41080" y="1554480"/>
            <a:ext cx="2514600" cy="1078992"/>
          </a:xfrm>
          <a:prstGeom prst="roundRect">
            <a:avLst/>
          </a:prstGeom>
          <a:solidFill>
            <a:srgbClr val="E5F8F1"/>
          </a:solidFill>
          <a:ln w="6350">
            <a:solidFill>
              <a:srgbClr val="E5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5672" y="1682495"/>
            <a:ext cx="21854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18AC84"/>
                </a:solidFill>
                <a:latin typeface="Noto Sans CJK SC"/>
              </a:rPr>
              <a:t>适合什么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5672" y="1975104"/>
            <a:ext cx="2185416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脚本自动化、批量改文件、项目调试、重构初稿。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06440" y="2971800"/>
            <a:ext cx="2514600" cy="1078992"/>
          </a:xfrm>
          <a:prstGeom prst="roundRect">
            <a:avLst/>
          </a:prstGeom>
          <a:solidFill>
            <a:srgbClr val="F2EDFF"/>
          </a:solidFill>
          <a:ln w="6350">
            <a:solidFill>
              <a:srgbClr val="F2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71031" y="3099816"/>
            <a:ext cx="21854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825CF5"/>
                </a:solidFill>
                <a:latin typeface="Noto Sans CJK SC"/>
              </a:rPr>
              <a:t>相比普通问答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71031" y="3392424"/>
            <a:ext cx="2185416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少复制粘贴，能围绕真实文件形成闭环。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41080" y="2971800"/>
            <a:ext cx="2514600" cy="1078992"/>
          </a:xfrm>
          <a:prstGeom prst="roundRect">
            <a:avLst/>
          </a:prstGeom>
          <a:solidFill>
            <a:srgbClr val="FFF7E8"/>
          </a:solidFill>
          <a:ln w="635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05672" y="3099816"/>
            <a:ext cx="218541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300" b="1">
                <a:solidFill>
                  <a:srgbClr val="F5A623"/>
                </a:solidFill>
                <a:latin typeface="Noto Sans CJK SC"/>
              </a:rPr>
              <a:t>仍要注意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05672" y="3392424"/>
            <a:ext cx="2185416" cy="548640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900">
                <a:solidFill>
                  <a:srgbClr val="324155"/>
                </a:solidFill>
                <a:latin typeface="Noto Sans CJK SC"/>
              </a:rPr>
              <a:t>权限、数据安全、执行结果、代码风险都要人审查。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806440" y="4828032"/>
            <a:ext cx="5349240" cy="566928"/>
          </a:xfrm>
          <a:prstGeom prst="roundRect">
            <a:avLst/>
          </a:prstGeom>
          <a:solidFill>
            <a:srgbClr val="FFEBEE"/>
          </a:solidFill>
          <a:ln w="6350">
            <a:solidFill>
              <a:srgbClr val="FF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989320" y="4965192"/>
            <a:ext cx="49834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E65A64"/>
                </a:solidFill>
                <a:latin typeface="Noto Sans CJK SC"/>
              </a:rPr>
              <a:t>本次只做概念介绍：目前公司OpenCode资源池有限，不做深入展开和现场演示。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" y="5897880"/>
            <a:ext cx="1069848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50" b="0">
                <a:solidFill>
                  <a:srgbClr val="64748B"/>
                </a:solidFill>
                <a:latin typeface="Noto Sans CJK SC"/>
              </a:rPr>
              <a:t>资料参考：OpenCode官方文档称其为开源AI coding agent，支持终端、桌面或IDE形式。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650" b="0">
                <a:solidFill>
                  <a:srgbClr val="788296"/>
                </a:solidFill>
                <a:latin typeface="Noto Sans CJK SC"/>
              </a:rPr>
              <a:t>13/22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93776" y="310896"/>
            <a:ext cx="14630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700" b="1">
                <a:solidFill>
                  <a:srgbClr val="2A73FF"/>
                </a:solidFill>
                <a:latin typeface="Noto Sans CJK SC"/>
              </a:rPr>
              <a:t>TOOL CHOICE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76072"/>
            <a:ext cx="10149840" cy="40233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08142A"/>
                </a:solidFill>
                <a:latin typeface="Noto Sans CJK SC"/>
              </a:rPr>
              <a:t>OpenCode、Continue、Python脚本：不是谁替代谁，而是各有位置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02920" y="1051560"/>
            <a:ext cx="11128248" cy="0"/>
          </a:xfrm>
          <a:prstGeom prst="line">
            <a:avLst/>
          </a:prstGeom>
          <a:ln w="7620">
            <a:solidFill>
              <a:srgbClr val="DC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777240" y="1417320"/>
            <a:ext cx="1965960" cy="530352"/>
          </a:xfrm>
          <a:prstGeom prst="roundRect">
            <a:avLst/>
          </a:prstGeom>
          <a:solidFill>
            <a:srgbClr val="FFF7E8"/>
          </a:solidFill>
          <a:ln w="635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19659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F5A623"/>
                </a:solidFill>
                <a:latin typeface="Noto Sans CJK SC"/>
              </a:rPr>
              <a:t>我只是临时算一下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61488" y="1682496"/>
            <a:ext cx="896112" cy="0"/>
          </a:xfrm>
          <a:prstGeom prst="line">
            <a:avLst/>
          </a:prstGeom>
          <a:ln w="15240">
            <a:solidFill>
              <a:srgbClr val="DC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657600" y="1417320"/>
            <a:ext cx="1965960" cy="530352"/>
          </a:xfrm>
          <a:prstGeom prst="roundRect">
            <a:avLst/>
          </a:prstGeom>
          <a:solidFill>
            <a:srgbClr val="FFF7E8"/>
          </a:solidFill>
          <a:ln w="6350">
            <a:solidFill>
              <a:srgbClr val="FFF7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1490472"/>
            <a:ext cx="19659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F5A623"/>
                </a:solidFill>
                <a:latin typeface="Noto Sans CJK SC"/>
              </a:rPr>
              <a:t>Excel / 软件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331720"/>
            <a:ext cx="1965960" cy="530352"/>
          </a:xfrm>
          <a:prstGeom prst="roundRect">
            <a:avLst/>
          </a:prstGeom>
          <a:solidFill>
            <a:srgbClr val="EAF2FF"/>
          </a:solidFill>
          <a:ln w="635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04872"/>
            <a:ext cx="19659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A73FF"/>
                </a:solidFill>
                <a:latin typeface="Noto Sans CJK SC"/>
              </a:rPr>
              <a:t>我要稳定重复处理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61488" y="2596896"/>
            <a:ext cx="896112" cy="0"/>
          </a:xfrm>
          <a:prstGeom prst="line">
            <a:avLst/>
          </a:prstGeom>
          <a:ln w="15240">
            <a:solidFill>
              <a:srgbClr val="DC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57600" y="2331720"/>
            <a:ext cx="1965960" cy="530352"/>
          </a:xfrm>
          <a:prstGeom prst="roundRect">
            <a:avLst/>
          </a:prstGeom>
          <a:solidFill>
            <a:srgbClr val="EAF2FF"/>
          </a:solidFill>
          <a:ln w="635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0" y="2404872"/>
            <a:ext cx="19659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2A73FF"/>
                </a:solidFill>
                <a:latin typeface="Noto Sans CJK SC"/>
              </a:rPr>
              <a:t>Python脚本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3246120"/>
            <a:ext cx="1965960" cy="530352"/>
          </a:xfrm>
          <a:prstGeom prst="roundRect">
            <a:avLst/>
          </a:prstGeom>
          <a:solidFill>
            <a:srgbClr val="E5F8F1"/>
          </a:solidFill>
          <a:ln w="6350">
            <a:solidFill>
              <a:srgbClr val="E5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19272"/>
            <a:ext cx="19659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18AC84"/>
                </a:solidFill>
                <a:latin typeface="Noto Sans CJK SC"/>
              </a:rPr>
              <a:t>我要AI帮我写/改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761488" y="3511296"/>
            <a:ext cx="896112" cy="0"/>
          </a:xfrm>
          <a:prstGeom prst="line">
            <a:avLst/>
          </a:prstGeom>
          <a:ln w="15240">
            <a:solidFill>
              <a:srgbClr val="DC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657600" y="3246120"/>
            <a:ext cx="1965960" cy="530352"/>
          </a:xfrm>
          <a:prstGeom prst="roundRect">
            <a:avLst/>
          </a:prstGeom>
          <a:solidFill>
            <a:srgbClr val="E5F8F1"/>
          </a:solidFill>
          <a:ln w="6350">
            <a:solidFill>
              <a:srgbClr val="E5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0" y="3319272"/>
            <a:ext cx="19659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18AC84"/>
                </a:solidFill>
                <a:latin typeface="Noto Sans CJK SC"/>
              </a:rPr>
              <a:t>Continue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77240" y="4160520"/>
            <a:ext cx="1965960" cy="530352"/>
          </a:xfrm>
          <a:prstGeom prst="roundRect">
            <a:avLst/>
          </a:prstGeom>
          <a:solidFill>
            <a:srgbClr val="F2EDFF"/>
          </a:solidFill>
          <a:ln w="6350">
            <a:solidFill>
              <a:srgbClr val="F2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33672"/>
            <a:ext cx="19659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825CF5"/>
                </a:solidFill>
                <a:latin typeface="Noto Sans CJK SC"/>
              </a:rPr>
              <a:t>我要AI连续执行多步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61488" y="4425696"/>
            <a:ext cx="896112" cy="0"/>
          </a:xfrm>
          <a:prstGeom prst="line">
            <a:avLst/>
          </a:prstGeom>
          <a:ln w="15240">
            <a:solidFill>
              <a:srgbClr val="DCE2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657600" y="4160520"/>
            <a:ext cx="1965960" cy="530352"/>
          </a:xfrm>
          <a:prstGeom prst="roundRect">
            <a:avLst/>
          </a:prstGeom>
          <a:solidFill>
            <a:srgbClr val="F2EDFF"/>
          </a:solidFill>
          <a:ln w="6350">
            <a:solidFill>
              <a:srgbClr val="F2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0" y="4233672"/>
            <a:ext cx="1965960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/>
            <a:r>
              <a:rPr sz="1050" b="1">
                <a:solidFill>
                  <a:srgbClr val="825CF5"/>
                </a:solidFill>
                <a:latin typeface="Noto Sans CJK SC"/>
              </a:rPr>
              <a:t>OpenCode /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72200" y="1353312"/>
            <a:ext cx="2377440" cy="1234440"/>
          </a:xfrm>
          <a:prstGeom prst="roundRect">
            <a:avLst/>
          </a:prstGeom>
          <a:solidFill>
            <a:srgbClr val="EAF2FF"/>
          </a:solidFill>
          <a:ln w="6350">
            <a:solidFill>
              <a:srgbClr val="EAF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36792" y="1481328"/>
            <a:ext cx="20482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2A73FF"/>
                </a:solidFill>
                <a:latin typeface="Noto Sans CJK SC"/>
              </a:rPr>
              <a:t>Python本身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36792" y="1773936"/>
            <a:ext cx="2048256" cy="7040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优点：可重复、可追溯、适合批量数据</a:t>
            </a:r>
          </a:p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门槛：需要会写和调试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869680" y="1353312"/>
            <a:ext cx="2377440" cy="1234440"/>
          </a:xfrm>
          <a:prstGeom prst="roundRect">
            <a:avLst/>
          </a:prstGeom>
          <a:solidFill>
            <a:srgbClr val="E5F8F1"/>
          </a:solidFill>
          <a:ln w="6350">
            <a:solidFill>
              <a:srgbClr val="E5F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1481328"/>
            <a:ext cx="20482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18AC84"/>
                </a:solidFill>
                <a:latin typeface="Noto Sans CJK SC"/>
              </a:rPr>
              <a:t>Continue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34272" y="1773936"/>
            <a:ext cx="2048256" cy="7040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优点：在编辑器里解释、补全、改代码</a:t>
            </a:r>
          </a:p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适合：边学边写、小步修改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72200" y="2944368"/>
            <a:ext cx="2377440" cy="1234440"/>
          </a:xfrm>
          <a:prstGeom prst="roundRect">
            <a:avLst/>
          </a:prstGeom>
          <a:solidFill>
            <a:srgbClr val="F2EDFF"/>
          </a:solidFill>
          <a:ln w="6350">
            <a:solidFill>
              <a:srgbClr val="F2ED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3072384"/>
            <a:ext cx="20482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825CF5"/>
                </a:solidFill>
                <a:latin typeface="Noto Sans CJK SC"/>
              </a:rPr>
              <a:t>OpenCode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36792" y="3364992"/>
            <a:ext cx="2048256" cy="7040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优点：更偏项目级、多步骤、可运行反馈</a:t>
            </a:r>
          </a:p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适合：自动化与调试闭环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69680" y="2944368"/>
            <a:ext cx="2377440" cy="1234440"/>
          </a:xfrm>
          <a:prstGeom prst="roundRect">
            <a:avLst/>
          </a:prstGeom>
          <a:solidFill>
            <a:srgbClr val="FFEBEE"/>
          </a:solidFill>
          <a:ln w="6350">
            <a:solidFill>
              <a:srgbClr val="FFEB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34272" y="3072384"/>
            <a:ext cx="2048256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00" b="1">
                <a:solidFill>
                  <a:srgbClr val="E65A64"/>
                </a:solidFill>
                <a:latin typeface="Noto Sans CJK SC"/>
              </a:rPr>
              <a:t>共同原则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4272" y="3364992"/>
            <a:ext cx="2048256" cy="704088"/>
          </a:xfrm>
          <a:prstGeom prst="rect">
            <a:avLst/>
          </a:prstGeom>
          <a:noFill/>
        </p:spPr>
        <p:txBody>
          <a:bodyPr wrap="square" lIns="9144" rIns="9144" tIns="9144" bIns="9144">
            <a:spAutoFit/>
          </a:bodyPr>
          <a:lstStyle/>
          <a:p>
            <a:pPr algn="l"/>
            <a:r>
              <a:rPr sz="850">
                <a:solidFill>
                  <a:srgbClr val="324155"/>
                </a:solidFill>
                <a:latin typeface="Noto Sans CJK SC"/>
              </a:rPr>
              <a:t>先讲清输入/输出/规则；再检查结果；敏感数据用内部工具。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77240" y="5705856"/>
            <a:ext cx="10469880" cy="512064"/>
          </a:xfrm>
          <a:prstGeom prst="roundRect">
            <a:avLst/>
          </a:prstGeom>
          <a:solidFill>
            <a:srgbClr val="F6F8FC"/>
          </a:solidFill>
          <a:ln w="6350">
            <a:solidFill>
              <a:srgbClr val="F6F8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60120" y="5843016"/>
            <a:ext cx="100584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/>
            <a:r>
              <a:rPr sz="1150" b="1">
                <a:solidFill>
                  <a:srgbClr val="08142A"/>
                </a:solidFill>
                <a:latin typeface="Noto Sans CJK SC"/>
              </a:rPr>
              <a:t>一句话选择：简单临时用Excel，重复批量用Python，边写边问用Continue，多步执行/项目闭环再考虑OpenCode。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65392"/>
            <a:ext cx="457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/>
            <a:r>
              <a:rPr sz="650" b="0">
                <a:solidFill>
                  <a:srgbClr val="788296"/>
                </a:solidFill>
                <a:latin typeface="Noto Sans CJK SC"/>
              </a:rPr>
              <a:t>14/22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AI工具使用介绍：从日常办公到AI辅助编程</dc:title>
  <dc:subject>AI工具使用介绍</dc:subject>
  <dc:creator>OpenAI</dc:creator>
  <cp:lastModifiedBy>OpenAI</cp:lastModifiedBy>
  <cp:revision>1</cp:revision>
  <dcterms:created xsi:type="dcterms:W3CDTF">2026-07-10T11:42:49Z</dcterms:created>
  <dcterms:modified xsi:type="dcterms:W3CDTF">2026-07-10T11:42:49Z</dcterms:modified>
</cp:coreProperties>
</file>