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 页｜封面：AI辅助科研，从自然语言需求到可复用的数据处理流程**</a:t>
            </a:r>
          </a:p>
          <a:p/>
          <a:p>
            <a:r>
              <a:t>- 对象：懂自己的实验和数据、没有系统编程训练的同事。</a:t>
            </a:r>
          </a:p>
          <a:p>
            <a:r>
              <a:t>- 今天的目标：学会选择任务、描述要求、检查结果，并保留可重复使用的工具。</a:t>
            </a:r>
          </a:p>
          <a:p>
            <a:r>
              <a:t>- 封面主视觉：一组原始文件，经过处理，变成 Excel 汇总表和科研图。</a:t>
            </a:r>
          </a:p>
          <a:p/>
          <a:p>
            <a:r>
              <a:t>讲者开场：“今天用一个实验数据处理案例，看看如何把每天重复的操作交给程序。”</a:t>
            </a:r>
          </a:p>
          <a:p/>
          <a:p>
            <a:r>
              <a:t>来源：A1—2、B1。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2 页｜科研工作里，哪些重复操作最耗时间**</a:t>
            </a:r>
          </a:p>
          <a:p/>
          <a:p>
            <a:r>
              <a:t>- 每次实验都要打开许多 CSV/Excel，复制、拼表、改列名。</a:t>
            </a:r>
          </a:p>
          <a:p>
            <a:r>
              <a:t>- 不同仪器的单位和样品编号不一致，容易错配。</a:t>
            </a:r>
          </a:p>
          <a:p>
            <a:r>
              <a:t>- 反复计算平均值、标准差，修改同一类图，整理同一份周报。</a:t>
            </a:r>
          </a:p>
          <a:p>
            <a:r>
              <a:t>- 上次做过的分析，这次仍然需要重走一遍。</a:t>
            </a:r>
          </a:p>
          <a:p/>
          <a:p>
            <a:r>
              <a:t>画面：人工操作链与“换数据、复用流程”的对照。互动：请听众在心里选一个每周都会重复的数据任务。</a:t>
            </a:r>
          </a:p>
          <a:p/>
          <a:p>
            <a:r>
              <a:t>来源：A4、A7、B2。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3 页｜从 OpenAI 和 Anthropic 的高估值，看 AI 工具正在进入工作流程**</a:t>
            </a:r>
          </a:p>
          <a:p/>
          <a:p>
            <a:r>
              <a:t>页面只保留两张数据卡与一个应用落点：</a:t>
            </a:r>
          </a:p>
          <a:p/>
          <a:p>
            <a:r>
              <a:t>| 公司 | 官方公布轮次 | 投后估值 | 面向工作应用的例子 |</a:t>
            </a:r>
          </a:p>
          <a:p>
            <a:r>
              <a:t>|---|---|---:|---|</a:t>
            </a:r>
          </a:p>
          <a:p>
            <a:r>
              <a:t>| Anthropic | 2026-05-28，H 轮融资 650 亿美元 | 9650 亿美元（$965B） | Claude、Claude Code |</a:t>
            </a:r>
          </a:p>
          <a:p>
            <a:r>
              <a:t>| OpenAI | 2026-03-31，融资承诺额 1220 亿美元 | 8520 亿美元（$852B） | ChatGPT、Codex |</a:t>
            </a:r>
          </a:p>
          <a:p/>
          <a:p>
            <a:r>
              <a:t>上述数字分别来自 [Anthropic 融资公告](https://www.anthropic.com/news/series-h) 和 [OpenAI 融资公告](https://openai.com/index/accelerating-the-next-phase-ai/)。数字为各自公告轮次的投后估值，非当日市场报价。</a:t>
            </a:r>
          </a:p>
          <a:p/>
          <a:p>
            <a:r>
              <a:t>讲述口径：“两家是全球估值最高的一批未上市 AI 企业。我们关心的是这些工具如何进入自己的工作。”不要将本页写为未经统一口径核实的全球第一、第二排名；私人股权交易价格、拟融资目标和已公布融资估值应分开。</a:t>
            </a:r>
          </a:p>
          <a:p/>
          <a:p>
            <a:r>
              <a:t>讲者解读：企业使用、编程与流程自动化是理解其商业机会的一个角度；高估值本身不能证明某个工具能可靠完成科研任务。商业解释明确标为分析，不把估值完全归因于编程。</a:t>
            </a:r>
          </a:p>
          <a:p/>
          <a:p>
            <a:r>
              <a:t>来源：更新 B14，压缩 B15—16。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4 页｜宇树科技上市后的大幅回撤：技术、商业化与市场价格要分别判断**</a:t>
            </a:r>
          </a:p>
          <a:p/>
          <a:p>
            <a:r>
              <a:t>- 据 2026-09-11 澎湃新闻报道，宇树科技股价盘中跌至 490 元以下，总市值跌破 2000 亿元。</a:t>
            </a:r>
          </a:p>
          <a:p>
            <a:r>
              <a:t>- 对照点为 2026-08-19 上市首日开盘及历史高点 1100 元，累计回撤超过约 55.45%。</a:t>
            </a:r>
          </a:p>
          <a:p>
            <a:r>
              <a:t>- 图中用两个带日期的价格点，明确标注“相对上市首日高点的累计回撤”，不能写成“当日暴跌 55%”。[澎湃新闻，经新浪财经转载](https://finance.sina.com.cn/stock/relnews/cn/2026-09-11/doc-inirmfef5452410.shtml)</a:t>
            </a:r>
          </a:p>
          <a:p/>
          <a:p>
            <a:r>
              <a:t>讲者过渡：“市场对未来有很高期待，实际应用仍然要逐项验证。对科研人员来说，我们可以先从容易检查的数字化任务开始。”</a:t>
            </a:r>
          </a:p>
          <a:p/>
          <a:p>
            <a:r>
              <a:t>不从股价变化直接推断机器人技术成败，也不据此断言大模型估值更合理。此处是新闻引入，下一页再独立解释科研任务的选择依据。</a:t>
            </a:r>
          </a:p>
          <a:p/>
          <a:p>
            <a:r>
              <a:t>来源：新增新闻，吸收 B9—11 的应用成熟度讨论。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5 页｜为什么先把 AI 用在编程和数据处理上**</a:t>
            </a:r>
          </a:p>
          <a:p/>
          <a:p>
            <a:r>
              <a:t>- 输入已在电脑里：表格、文件、图像、仪器导出数据。</a:t>
            </a:r>
          </a:p>
          <a:p>
            <a:r>
              <a:t>- 处理步骤容易描述：读取、合并、换算、统计、作图。</a:t>
            </a:r>
          </a:p>
          <a:p>
            <a:r>
              <a:t>- 结果有核对入口：原始记录、手算样例、已有软件或标定样本。</a:t>
            </a:r>
          </a:p>
          <a:p>
            <a:r>
              <a:t>- 同类工作可以重复，首次调试的投入能在后续批次复用。</a:t>
            </a:r>
          </a:p>
          <a:p/>
          <a:p>
            <a:r>
              <a:t>页面落点：优先选择“重复出现、规则明确、数据可获得、结果可检查”的任务。代码运行成功只是技术检查，科学口径仍需人确定。</a:t>
            </a:r>
          </a:p>
          <a:p/>
          <a:p>
            <a:r>
              <a:t>来源：A7、B10、B17。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6 页｜AI只需理解到这一步：能帮助读、写、整理和调用工具**</a:t>
            </a:r>
          </a:p>
          <a:p/>
          <a:p>
            <a:r>
              <a:t>- 阅读：提炼论文方法、解释数据字段和报错。</a:t>
            </a:r>
          </a:p>
          <a:p>
            <a:r>
              <a:t>- 编写：形成代码、报告和分析方案初稿。</a:t>
            </a:r>
          </a:p>
          <a:p>
            <a:r>
              <a:t>- 执行：接入工具后，可读取文件、运行程序并根据反馈修改。</a:t>
            </a:r>
          </a:p>
          <a:p>
            <a:r>
              <a:t>- 专业判断：实验意义、统计方法与结论由研究人员核对。</a:t>
            </a:r>
          </a:p>
          <a:p/>
          <a:p>
            <a:r>
              <a:t>画面：四个动作对应四个工作例子，不展开模型结构、训练细节或 AGI。</a:t>
            </a:r>
          </a:p>
          <a:p/>
          <a:p>
            <a:r>
              <a:t>来源：压缩 A3—5、B3—5。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7 页｜代码是什么：把实验处理步骤写成电脑能执行的 SOP**</a:t>
            </a:r>
          </a:p>
          <a:p/>
          <a:p>
            <a:r>
              <a:t>- 人的要求：“把所有实验文件合并，按实验条件统计，输出 Excel 和图。”</a:t>
            </a:r>
          </a:p>
          <a:p>
            <a:r>
              <a:t>- 程序的步骤：找文件 → 读数据 → 核对字段和单位 → 计算 → 导出。</a:t>
            </a:r>
          </a:p>
          <a:p>
            <a:r>
              <a:t>- Python 是实现这类流程的一种编程语言。</a:t>
            </a:r>
          </a:p>
          <a:p/>
          <a:p>
            <a:r>
              <a:t>讲者重点：第一次让 AI 协助写和调试；方法固定以后，同一脚本可以用于下一批数据。能否复用取决于新数据是否满足原来的格式和规则。</a:t>
            </a:r>
          </a:p>
          <a:p/>
          <a:p>
            <a:r>
              <a:t>来源：A6—10。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8 页｜一张图认清 AI、Agent、Skill、Python 和 Excel**</a:t>
            </a:r>
          </a:p>
          <a:p/>
          <a:p>
            <a:r>
              <a:t>| 名称 | 对听众的解释 | 本次案例中的职责 |</a:t>
            </a:r>
          </a:p>
          <a:p>
            <a:r>
              <a:t>|---|---|---|</a:t>
            </a:r>
          </a:p>
          <a:p>
            <a:r>
              <a:t>| AI 模型 | 理解需求、生成方案和代码的能力 | 理解“合并、统计、作图”要求 |</a:t>
            </a:r>
          </a:p>
          <a:p>
            <a:r>
              <a:t>| Agent 工具 | 带文件和运行工具的任务助手 | OpenCode 组织读文件、写程序、运行和修错 |</a:t>
            </a:r>
          </a:p>
          <a:p>
            <a:r>
              <a:t>| Skill | 可重复使用的任务说明与资源包 | 保存实验室的数据处理规范、脚本和模板 |</a:t>
            </a:r>
          </a:p>
          <a:p>
            <a:r>
              <a:t>| Python | 执行计算的程序语言与运行环境 | 合并数据、计算统计量、生成文件 |</a:t>
            </a:r>
          </a:p>
          <a:p>
            <a:r>
              <a:t>| Excel | 熟悉的输入、查看与交付形式 | 核对明细、查看汇总、与同事沟通 |</a:t>
            </a:r>
          </a:p>
          <a:p/>
          <a:p>
            <a:r>
              <a:t>避免用“GPT只能回答、Agent才能执行”做产品划分：同一模型和不同产品可接入不同工具，实际能力取决于当前功能和权限。</a:t>
            </a:r>
          </a:p>
          <a:p/>
          <a:p>
            <a:r>
              <a:t>来源：重写 A19—20、A22；Skill 概念参考 [OpenCode Skills](https://opencode.ai/docs/skills/) 与 [OpenAI 官方技能文档](https://learn.chatgpt.com/docs/build-skills)。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9 页｜Excel 和 Python 怎样分工**</a:t>
            </a:r>
          </a:p>
          <a:p/>
          <a:p>
            <a:r>
              <a:t>- Excel：适合检查样例、查看明细、临时筛选和交流结果。</a:t>
            </a:r>
          </a:p>
          <a:p>
            <a:r>
              <a:t>- Python：适合跨文件合并、重复计算和按固定规范导出。</a:t>
            </a:r>
          </a:p>
          <a:p>
            <a:r>
              <a:t>- 常见组合：Excel/CSV 输入 → Python 批处理 → Excel/图片输出。</a:t>
            </a:r>
          </a:p>
          <a:p>
            <a:r>
              <a:t>- AI帮助编写和维护程序；固定脚本的日常运行可以不调用 AI。</a:t>
            </a:r>
          </a:p>
          <a:p/>
          <a:p>
            <a:r>
              <a:t>说明：这里指普通 Python 读写 `.xlsx` 文件，不要求使用 Excel 内置的 Python 功能，也不必让 AI 模拟鼠标逐格点击。</a:t>
            </a:r>
          </a:p>
          <a:p/>
          <a:p>
            <a:r>
              <a:t>来源：A8、A22。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10 页｜工具怎么选：认识入口，重点学会工作方法**</a:t>
            </a:r>
          </a:p>
          <a:p/>
          <a:p>
            <a:r>
              <a:t>| 入口 | 适合用来演示什么 | 本次安排 |</a:t>
            </a:r>
          </a:p>
          <a:p>
            <a:r>
              <a:t>|---|---|---|</a:t>
            </a:r>
          </a:p>
          <a:p>
            <a:r>
              <a:t>| 获准使用的对话式 AI | 解释概念、帮助拆任务、讨论处理规则 | 快速带过 |</a:t>
            </a:r>
          </a:p>
          <a:p>
            <a:r>
              <a:t>| 公司已有的 Continue 环境 | 在编辑器中解释和修改脚本 | 保留一处内部入口说明 |</a:t>
            </a:r>
          </a:p>
          <a:p>
            <a:r>
              <a:t>| OpenCode | 围绕项目文件执行多步任务 | 主讲操作流程 |</a:t>
            </a:r>
          </a:p>
          <a:p>
            <a:r>
              <a:t>| Claude Code、Codex | 其他编程 Agent 的例子 | 与前面的公司新闻衔接 |</a:t>
            </a:r>
          </a:p>
          <a:p>
            <a:r>
              <a:t>| 已验证的 Python 脚本 | 按固定流程处理后续批次 | 作为最终复用成果 |</a:t>
            </a:r>
          </a:p>
          <a:p/>
          <a:p>
            <a:r>
              <a:t>不将 Continue 与 OpenCode 写成“一个只能补全、一个才能执行”的绝对区分；内部版本的功能和接入方式按实际平台说明。OpenCode 的入口形式参考 [官方入门文档](https://opencode.ai/docs/)；另外两类编程工具参考 [Claude Code](https://code.claude.com/docs/en/overview) 与 [Codex CLI](https://learn.chatgpt.com/docs/codex/cli)。</a:t>
            </a:r>
          </a:p>
          <a:p/>
          <a:p>
            <a:r>
              <a:t>来源：重组 A11、A21—22。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11 页｜OpenCode如何完成一个数据任务**</a:t>
            </a:r>
          </a:p>
          <a:p/>
          <a:p>
            <a:r>
              <a:t>画面用一个闭环，不展示大段代码：</a:t>
            </a:r>
          </a:p>
          <a:p/>
          <a:p>
            <a:r>
              <a:t>中文任务 → 查看文件 → 制订步骤 → 编写 Python → 运行 → 查看错误和结果 → 修改 → 交付文件。</a:t>
            </a:r>
          </a:p>
          <a:p/>
          <a:p>
            <a:r>
              <a:t>- 它需要明确的工作目录、可用的模型连接和运行环境。</a:t>
            </a:r>
          </a:p>
          <a:p>
            <a:r>
              <a:t>- 它可以尝试修复运行错误；数据口径错误仍需要研究人员识别。</a:t>
            </a:r>
          </a:p>
          <a:p>
            <a:r>
              <a:t>- 交付物要具体：脚本、Excel、图片、运行说明和异常记录。</a:t>
            </a:r>
          </a:p>
          <a:p/>
          <a:p>
            <a:r>
              <a:t>来源：A21，结合 [OpenCode 官方入门说明](https://opencode.ai/docs/)。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12 页｜第一次使用：准备文件夹，先看方案，再试跑**</a:t>
            </a:r>
          </a:p>
          <a:p/>
          <a:p>
            <a:r>
              <a:t>1. 使用单位允许的模型服务和工具入口，提前完成 Python 环境准备。</a:t>
            </a:r>
          </a:p>
          <a:p>
            <a:r>
              <a:t>2. 建立练习目录，放入 2—3 个脱敏样例和一份字段说明。</a:t>
            </a:r>
          </a:p>
          <a:p>
            <a:r>
              <a:t>3. 在该目录启动 OpenCode；先让它列出文件结构、拟用规则和不明确之处。</a:t>
            </a:r>
          </a:p>
          <a:p>
            <a:r>
              <a:t>4. 用 Plan 做分析，再切换到 Build 实施；具体操作按安装版本界面。</a:t>
            </a:r>
          </a:p>
          <a:p>
            <a:r>
              <a:t>5. 在新的输出目录查看结果，抽样核对后再处理完整批次。</a:t>
            </a:r>
          </a:p>
          <a:p/>
          <a:p>
            <a:r>
              <a:t>Plan 与 Build 是官方提供的两种主要工作模式，具体文件和命令访问仍受权限配置影响。[OpenCode Agents](https://opencode.ai/docs/agents/)</a:t>
            </a:r>
          </a:p>
          <a:p/>
          <a:p>
            <a:r>
              <a:t>演示准备：A21 原文说明公司 OpenCode 资源池有限，因此默认采用预录屏或截图讲解流程；如当前资源已具备，可换成同样步骤的现场演示。该资源状态来自原 PPT，本次未独立核实。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13 页｜非程序员最重要的能力：把任务说成一张实验处理单**</a:t>
            </a:r>
          </a:p>
          <a:p/>
          <a:p>
            <a:r>
              <a:t>一份任务至少说明五件事：</a:t>
            </a:r>
          </a:p>
          <a:p/>
          <a:p>
            <a:r>
              <a:t>- 输入：文件在哪、什么格式、字段与单位是什么。</a:t>
            </a:r>
          </a:p>
          <a:p>
            <a:r>
              <a:t>- 目标：想回答什么实验问题。</a:t>
            </a:r>
          </a:p>
          <a:p>
            <a:r>
              <a:t>- 规则：怎样合并、分组、换算和对待异常。</a:t>
            </a:r>
          </a:p>
          <a:p>
            <a:r>
              <a:t>- 输出：Excel 工作表、图片和文件名。</a:t>
            </a:r>
          </a:p>
          <a:p>
            <a:r>
              <a:t>- 验收：用哪些样例核对，什么情况应该停下来询问。</a:t>
            </a:r>
          </a:p>
          <a:p/>
          <a:p>
            <a:r>
              <a:t>对比示例：“分析一下数据” → “合并 raw 文件夹的 CSV，按批次和实验条件统计，输出原始明细、样品级结果和异常清单；遇到未知单位先报告。”</a:t>
            </a:r>
          </a:p>
          <a:p/>
          <a:p>
            <a:r>
              <a:t>来源：A12、B21。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14 页｜本次主线：AI → Skill → Python → Excel → 人工验收**</a:t>
            </a:r>
          </a:p>
          <a:p/>
          <a:p>
            <a:r>
              <a:t>```mermaid</a:t>
            </a:r>
          </a:p>
          <a:p>
            <a:r>
              <a:t>flowchart LR</a:t>
            </a:r>
          </a:p>
          <a:p>
            <a:r>
              <a:t>    U[科研人员定义任务] --&gt; A[AI / OpenCode组织执行]</a:t>
            </a:r>
          </a:p>
          <a:p>
            <a:r>
              <a:t>    S[Skill：规则、模板、脚本] --&gt; A</a:t>
            </a:r>
          </a:p>
          <a:p>
            <a:r>
              <a:t>    D[原始 CSV / Excel / 图像] --&gt; P[Python处理和计算]</a:t>
            </a:r>
          </a:p>
          <a:p>
            <a:r>
              <a:t>    A --&gt; P</a:t>
            </a:r>
          </a:p>
          <a:p>
            <a:r>
              <a:t>    P --&gt; E[Excel、图表、日志]</a:t>
            </a:r>
          </a:p>
          <a:p>
            <a:r>
              <a:t>    E --&gt; V[人工核对与科研解释]</a:t>
            </a:r>
          </a:p>
          <a:p>
            <a:r>
              <a:t>    V --&gt;|修正规则并确认| S</a:t>
            </a:r>
          </a:p>
          <a:p>
            <a:r>
              <a:t>```</a:t>
            </a:r>
          </a:p>
          <a:p/>
          <a:p>
            <a:r>
              <a:t>逐项说明：人定义问题；AI组织步骤；Skill提供方法；Python执行；Excel呈现；人验收。</a:t>
            </a:r>
          </a:p>
          <a:p/>
          <a:p>
            <a:r>
              <a:t>教学中可以用“AI → Skill → Python → Excel”记忆，但实际是 Agent 读取 Skill 并调用 Python。Skill并非每个任务都必需，单次任务可以先跑通，反复使用后再封装。</a:t>
            </a:r>
          </a:p>
          <a:p/>
          <a:p>
            <a:r>
              <a:t>来源：新增核心页，连接 A10、A13 和 B21。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**第 15 页｜Skill是什么：把实验室的处理经验整理成可调用的方法包**</a:t>
            </a:r>
          </a:p>
          <a:p/>
          <a:p>
            <a:r>
              <a:t>- 普通提示词交代这一次要做什么。</a:t>
            </a:r>
          </a:p>
          <a:p>
            <a:r>
              <a:t>- Skill保存这一类任务通常怎么做、依据什么规则、输出什么、如何检查。</a:t>
            </a:r>
          </a:p>
          <a:p>
            <a:r>
              <a:t>- 它可包含说明文件，以及需要时使用的脚本、字段规范和报告模板。</a:t>
            </a:r>
          </a:p>
          <a:p>
            <a:r>
              <a:t>- 加载 Skill 不会重新训练模型，也不会自动保证结果正确。</a:t>
            </a:r>
          </a:p>
          <a:p/>
          <a:p>
            <a:r>
              <a:t>类比：新同事拿到实验室的数据处理 SOP、示例和工具。概念依据 [OpenAI 官方技能文档](https://learn.chatgpt.com/docs/build-skills)。本案例的具体规范是为本次分享设计的教学建议。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nthropic.com/news/series-h" TargetMode="External"/><Relationship Id="rId4" Type="http://schemas.openxmlformats.org/officeDocument/2006/relationships/hyperlink" Target="https://openai.com/index/accelerating-the-next-phase-ai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inance.sina.com.cn/stock/relnews/cn/2026-09-11/doc-inirmfef5452410.s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pencode.ai/docs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pencode.ai/docs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pencode.ai/docs/agent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arn.chatgpt.com/docs/build-skill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28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D879A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D879A"/>
                </a:solidFill>
                <a:latin typeface="DejaVu Sans"/>
                <a:ea typeface="DejaVu Sans"/>
              </a:rPr>
              <a:t>01 /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40080"/>
            <a:ext cx="512064" cy="50292"/>
          </a:xfrm>
          <a:prstGeom prst="rect">
            <a:avLst/>
          </a:prstGeom>
          <a:solidFill>
            <a:srgbClr val="5E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90525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ADC1CF"/>
                </a:solidFill>
                <a:latin typeface="Noto Sans CJK SC"/>
                <a:ea typeface="Noto Sans CJK SC"/>
              </a:rPr>
              <a:t>面向非计算机同事的实用入门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50876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lang="zh-CN">
                <a:solidFill>
                  <a:srgbClr val="FFFFFF"/>
                </a:solidFill>
                <a:latin typeface="Noto Sans CJK SC"/>
                <a:ea typeface="Noto Sans CJK SC"/>
              </a:rPr>
              <a:t>AI辅助科研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24328"/>
            <a:ext cx="6537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FFFFF"/>
                </a:solidFill>
                <a:latin typeface="Noto Sans CJK SC"/>
                <a:ea typeface="Noto Sans CJK SC"/>
              </a:rPr>
              <a:t>从自然语言需求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FFFFF"/>
                </a:solidFill>
                <a:latin typeface="Noto Sans CJK SC"/>
                <a:ea typeface="Noto Sans CJK SC"/>
              </a:rPr>
              <a:t>到可复用的数据处理流程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14223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ADC1CF"/>
                </a:solidFill>
                <a:latin typeface="Noto Sans CJK SC"/>
                <a:ea typeface="Noto Sans CJK SC"/>
              </a:rPr>
              <a:t>定义任务 · 运行程序 · 检查结果 · 保存方法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038344"/>
            <a:ext cx="1600200" cy="402336"/>
          </a:xfrm>
          <a:prstGeom prst="roundRect">
            <a:avLst>
              <a:gd name="adj" fmla="val 20000"/>
            </a:avLst>
          </a:prstGeom>
          <a:solidFill>
            <a:srgbClr val="17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056631"/>
            <a:ext cx="14538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5ED4C6"/>
                </a:solidFill>
                <a:latin typeface="Noto Sans CJK SC"/>
                <a:ea typeface="Noto Sans CJK SC"/>
              </a:rPr>
              <a:t>OpenCode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5038344"/>
            <a:ext cx="1005840" cy="402336"/>
          </a:xfrm>
          <a:prstGeom prst="roundRect">
            <a:avLst>
              <a:gd name="adj" fmla="val 20000"/>
            </a:avLst>
          </a:prstGeom>
          <a:solidFill>
            <a:srgbClr val="17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5056631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5ED4C6"/>
                </a:solidFill>
                <a:latin typeface="Noto Sans CJK SC"/>
                <a:ea typeface="Noto Sans CJK SC"/>
              </a:rPr>
              <a:t>Skill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5038344"/>
            <a:ext cx="1298448" cy="402336"/>
          </a:xfrm>
          <a:prstGeom prst="roundRect">
            <a:avLst>
              <a:gd name="adj" fmla="val 20000"/>
            </a:avLst>
          </a:prstGeom>
          <a:solidFill>
            <a:srgbClr val="17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5056631"/>
            <a:ext cx="11521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5ED4C6"/>
                </a:solidFill>
                <a:latin typeface="Noto Sans CJK SC"/>
                <a:ea typeface="Noto Sans CJK SC"/>
              </a:rP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0328" y="5038344"/>
            <a:ext cx="1143000" cy="402336"/>
          </a:xfrm>
          <a:prstGeom prst="roundRect">
            <a:avLst>
              <a:gd name="adj" fmla="val 20000"/>
            </a:avLst>
          </a:prstGeom>
          <a:solidFill>
            <a:srgbClr val="17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5056631"/>
            <a:ext cx="9966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5ED4C6"/>
                </a:solidFill>
                <a:latin typeface="Noto Sans CJK SC"/>
                <a:ea typeface="Noto Sans CJK SC"/>
              </a:rPr>
              <a:t>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1417320"/>
            <a:ext cx="3968496" cy="4206240"/>
          </a:xfrm>
          <a:prstGeom prst="roundRect">
            <a:avLst>
              <a:gd name="adj" fmla="val 12000"/>
            </a:avLst>
          </a:prstGeom>
          <a:solidFill>
            <a:srgbClr val="102B3D"/>
          </a:solidFill>
          <a:ln w="10160">
            <a:solidFill>
              <a:srgbClr val="274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1682496"/>
            <a:ext cx="3429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Noto Sans CJK SC"/>
                <a:ea typeface="Noto Sans CJK SC"/>
              </a:rPr>
              <a:t>把重复操作，变成可执行流程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2359152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083296" y="2587752"/>
            <a:ext cx="658367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83296" y="2715768"/>
            <a:ext cx="658367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83296" y="2843784"/>
            <a:ext cx="658367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28431" y="28986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CSV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704" y="2359152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208008" y="2587752"/>
            <a:ext cx="658368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08008" y="2715768"/>
            <a:ext cx="658368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08008" y="2843784"/>
            <a:ext cx="658368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53144" y="28986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XLSX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86416" y="2359152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332720" y="2587752"/>
            <a:ext cx="658368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332720" y="2715768"/>
            <a:ext cx="658368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332720" y="2843784"/>
            <a:ext cx="658368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77856" y="28986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图像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7848" y="3456432"/>
            <a:ext cx="3319272" cy="676656"/>
          </a:xfrm>
          <a:prstGeom prst="roundRect">
            <a:avLst>
              <a:gd name="adj" fmla="val 12000"/>
            </a:avLst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3584448"/>
            <a:ext cx="3044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FFFFFF"/>
                </a:solidFill>
                <a:latin typeface="Noto Sans CJK SC"/>
                <a:ea typeface="Noto Sans CJK SC"/>
              </a:rPr>
              <a:t>AI + 方法 + Python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85048" y="3209544"/>
            <a:ext cx="0" cy="192024"/>
          </a:xfrm>
          <a:prstGeom prst="line">
            <a:avLst/>
          </a:prstGeom>
          <a:ln w="15240">
            <a:solidFill>
              <a:srgbClr val="5C8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09760" y="3209544"/>
            <a:ext cx="0" cy="192024"/>
          </a:xfrm>
          <a:prstGeom prst="line">
            <a:avLst/>
          </a:prstGeom>
          <a:ln w="15240">
            <a:solidFill>
              <a:srgbClr val="5C8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625328" y="3209544"/>
            <a:ext cx="0" cy="192024"/>
          </a:xfrm>
          <a:prstGeom prst="line">
            <a:avLst/>
          </a:prstGeom>
          <a:ln w="15240">
            <a:solidFill>
              <a:srgbClr val="5C8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92056" y="4151376"/>
            <a:ext cx="0" cy="365760"/>
          </a:xfrm>
          <a:prstGeom prst="line">
            <a:avLst/>
          </a:prstGeom>
          <a:ln w="15240">
            <a:solidFill>
              <a:srgbClr val="5C8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946136" y="4626864"/>
            <a:ext cx="1517904" cy="466344"/>
          </a:xfrm>
          <a:prstGeom prst="roundRect">
            <a:avLst>
              <a:gd name="adj" fmla="val 20000"/>
            </a:avLst>
          </a:prstGeom>
          <a:solidFill>
            <a:srgbClr val="203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9288" y="4645151"/>
            <a:ext cx="13716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Noto Sans CJK SC"/>
                <a:ea typeface="Noto Sans CJK SC"/>
              </a:rPr>
              <a:t>Excel汇总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4352" y="4626864"/>
            <a:ext cx="1517904" cy="466344"/>
          </a:xfrm>
          <a:prstGeom prst="roundRect">
            <a:avLst>
              <a:gd name="adj" fmla="val 20000"/>
            </a:avLst>
          </a:prstGeom>
          <a:solidFill>
            <a:srgbClr val="203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47504" y="4645151"/>
            <a:ext cx="13716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Noto Sans CJK SC"/>
                <a:ea typeface="Noto Sans CJK SC"/>
              </a:rPr>
              <a:t>科研图表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989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D879A"/>
                </a:solidFill>
                <a:latin typeface="DejaVu Sans"/>
                <a:ea typeface="DejaVu Sans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01 / 从工作出发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科研工作里，哪些重复操作最耗时间？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先选一个每周都会出现、又能检查结果的小任务。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29968"/>
            <a:ext cx="2651760" cy="2404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DejaVu Sans"/>
                <a:ea typeface="DejaVu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70632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0D233A"/>
                </a:solidFill>
                <a:latin typeface="Noto Sans CJK SC"/>
                <a:ea typeface="Noto Sans CJK SC"/>
              </a:rPr>
              <a:t>整理文件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01568"/>
            <a:ext cx="22677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打开几十个CSV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复制、拼表、改列名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2029968"/>
            <a:ext cx="2651760" cy="2404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2128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DejaVu Sans"/>
                <a:ea typeface="DejaVu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770632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0D233A"/>
                </a:solidFill>
                <a:latin typeface="Noto Sans CJK SC"/>
                <a:ea typeface="Noto Sans CJK SC"/>
              </a:rPr>
              <a:t>统一口径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401568"/>
            <a:ext cx="22677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样品编号不一致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仪器单位不相同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029968"/>
            <a:ext cx="2651760" cy="2404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2128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DejaVu Sans"/>
                <a:ea typeface="DejaVu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770632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0D233A"/>
                </a:solidFill>
                <a:latin typeface="Noto Sans CJK SC"/>
                <a:ea typeface="Noto Sans CJK SC"/>
              </a:rPr>
              <a:t>统计作图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401568"/>
            <a:ext cx="22677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重复算均值和标准差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反复调整同一类图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2029968"/>
            <a:ext cx="2651760" cy="2404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2128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DejaVu Sans"/>
                <a:ea typeface="DejaVu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770632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0D233A"/>
                </a:solidFill>
                <a:latin typeface="Noto Sans CJK SC"/>
                <a:ea typeface="Noto Sans CJK SC"/>
              </a:rPr>
              <a:t>生成报告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401568"/>
            <a:ext cx="22677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周报格式基本相同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每次仍从头整理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91032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617487"/>
                </a:solidFill>
                <a:latin typeface="Noto Sans CJK SC"/>
                <a:ea typeface="Noto Sans CJK SC"/>
              </a:rPr>
              <a:t>每次重新操作</a:t>
            </a:r>
          </a:p>
        </p:txBody>
      </p:sp>
      <p:sp>
        <p:nvSpPr>
          <p:cNvPr id="25" name="Chevron 24"/>
          <p:cNvSpPr/>
          <p:nvPr/>
        </p:nvSpPr>
        <p:spPr>
          <a:xfrm>
            <a:off x="4023360" y="5020056"/>
            <a:ext cx="384048" cy="274320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4892040"/>
            <a:ext cx="6400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68F91"/>
                </a:solidFill>
                <a:latin typeface="Noto Sans CJK SC"/>
                <a:ea typeface="Noto Sans CJK SC"/>
              </a:rPr>
              <a:t>换一批数据，复用同一套流程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650992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742431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你的第一个AI任务，可以从一份熟悉的实验表格开始。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02 / 新闻引入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AI正在进入真实的工作流程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OpenAI 与 Anthropic：全球估值最高的一批未上市AI企业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93392"/>
            <a:ext cx="5385816" cy="3145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93392"/>
            <a:ext cx="59436" cy="3145536"/>
          </a:xfrm>
          <a:prstGeom prst="rect">
            <a:avLst/>
          </a:prstGeom>
          <a:solidFill>
            <a:srgbClr val="DD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0D233A"/>
                </a:solidFill>
                <a:latin typeface="DejaVu Sans"/>
                <a:ea typeface="DejaVu Sans"/>
              </a:rPr>
              <a:t>Anthropic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88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2026.05.28  H轮融资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48188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>
                <a:solidFill>
                  <a:srgbClr val="DD8A5C"/>
                </a:solidFill>
                <a:latin typeface="DejaVu Sans"/>
                <a:ea typeface="DejaVu Sans"/>
              </a:rPr>
              <a:t>$965B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690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9650 亿美元 · 投后估值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" y="4562856"/>
            <a:ext cx="4736592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6968" y="469087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D233A"/>
                </a:solidFill>
                <a:latin typeface="DejaVu Sans"/>
                <a:ea typeface="DejaVu Sans"/>
              </a:rPr>
              <a:t>Claude / Claude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93392"/>
            <a:ext cx="5385816" cy="3145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993392"/>
            <a:ext cx="59436" cy="3145536"/>
          </a:xfrm>
          <a:prstGeom prst="rect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1945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0D233A"/>
                </a:solidFill>
                <a:latin typeface="DejaVu Sans"/>
                <a:ea typeface="DejaVu Sans"/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788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2026.03.31  融资公告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218688"/>
            <a:ext cx="48188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>
                <a:solidFill>
                  <a:srgbClr val="168F91"/>
                </a:solidFill>
                <a:latin typeface="DejaVu Sans"/>
                <a:ea typeface="DejaVu Sans"/>
              </a:rPr>
              <a:t>$852B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40690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8520 亿美元 · 投后估值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01384" y="4562856"/>
            <a:ext cx="4736592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01384" y="469087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D233A"/>
                </a:solidFill>
                <a:latin typeface="DejaVu Sans"/>
                <a:ea typeface="DejaVu Sans"/>
              </a:rPr>
              <a:t>ChatGPT / Codex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413248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504688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应用落点：编程、数据分析、办公自动化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17487"/>
                </a:solidFill>
                <a:latin typeface="Noto Sans CJK SC"/>
                <a:ea typeface="Noto Sans CJK SC"/>
              </a:rPr>
              <a:t>采用各自已公布融资轮次的口径；估值代表市场预期，不能替代具体任务的验证。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199632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3"/>
              </a:rPr>
              <a:t>来源：Anthropic融资公告（2026-05-28）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19963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4"/>
              </a:rPr>
              <a:t>OpenAI融资公告（2026-03-31）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02 / 新闻引入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宇树科技：从上市高点到大幅回撤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技术能力、商业化进展与市场价格，需要分别判断。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93392"/>
            <a:ext cx="6601968" cy="3465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221992"/>
            <a:ext cx="5989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两个带日期的价格观察点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CN">
                <a:solidFill>
                  <a:srgbClr val="0D233A"/>
                </a:solidFill>
                <a:latin typeface="Noto Sans CJK SC"/>
                <a:ea typeface="Noto Sans CJK SC"/>
              </a:rPr>
              <a:t>1100 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65576"/>
            <a:ext cx="32278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2026.08.19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上市首日开盘 / 历史高点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3474720"/>
            <a:ext cx="795528" cy="713232"/>
          </a:xfrm>
          <a:prstGeom prst="line">
            <a:avLst/>
          </a:prstGeom>
          <a:ln w="25400">
            <a:solidFill>
              <a:srgbClr val="DD8A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95928" y="4041648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CN">
                <a:solidFill>
                  <a:srgbClr val="BB584D"/>
                </a:solidFill>
                <a:latin typeface="Noto Sans CJK SC"/>
                <a:ea typeface="Noto Sans CJK SC"/>
              </a:rPr>
              <a:t>&lt; 490 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4754880"/>
            <a:ext cx="2852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2026.09.11 盘中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993392"/>
            <a:ext cx="4169663" cy="3465576"/>
          </a:xfrm>
          <a:prstGeom prst="roundRect">
            <a:avLst>
              <a:gd name="adj" fmla="val 12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2404872"/>
            <a:ext cx="3557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B4C6D4"/>
                </a:solidFill>
                <a:latin typeface="Noto Sans CJK SC"/>
                <a:ea typeface="Noto Sans CJK SC"/>
              </a:rPr>
              <a:t>相对上市首日高点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008376"/>
            <a:ext cx="363931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lang="zh-CN">
                <a:solidFill>
                  <a:srgbClr val="FFFFFF"/>
                </a:solidFill>
                <a:latin typeface="Noto Sans CJK SC"/>
                <a:ea typeface="Noto Sans CJK SC"/>
              </a:rPr>
              <a:t>回撤逾55%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4023360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5ED4C6"/>
                </a:solidFill>
                <a:latin typeface="Noto Sans CJK SC"/>
                <a:ea typeface="Noto Sans CJK SC"/>
              </a:rPr>
              <a:t>期间累计变化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4764024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B4C6D4"/>
                </a:solidFill>
                <a:latin typeface="Noto Sans CJK SC"/>
                <a:ea typeface="Noto Sans CJK SC"/>
              </a:rPr>
              <a:t>统计口径：2026.08.19 → 09.11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32704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24144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对科研人员：先找可落地的任务，再用结果评价工具。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19963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3"/>
              </a:rPr>
              <a:t>来源：澎湃新闻，2026-09-11（新浪财经转载）；图示不代表完整交易走势。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03 / 选择任务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为什么先尝试AI编程和数据处理？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优先选择重复出现、规则明确、能够核对的工作。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02536"/>
            <a:ext cx="539496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" y="2221991"/>
            <a:ext cx="420624" cy="402336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402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68F91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221991"/>
            <a:ext cx="4361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0D233A"/>
                </a:solidFill>
                <a:latin typeface="Noto Sans CJK SC"/>
                <a:ea typeface="Noto Sans CJK SC"/>
              </a:rPr>
              <a:t>数据已在电脑里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816352"/>
            <a:ext cx="4370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CSV、Excel、图像、仪器导出文件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002536"/>
            <a:ext cx="539496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19088" y="2221991"/>
            <a:ext cx="420624" cy="402336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68F91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221991"/>
            <a:ext cx="4361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0D233A"/>
                </a:solidFill>
                <a:latin typeface="Noto Sans CJK SC"/>
                <a:ea typeface="Noto Sans CJK SC"/>
              </a:rPr>
              <a:t>步骤容易描述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816352"/>
            <a:ext cx="4370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读取、合并、换算、统计、作图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84448"/>
            <a:ext cx="539496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" y="3803904"/>
            <a:ext cx="420624" cy="402336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68F91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803904"/>
            <a:ext cx="4361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0D233A"/>
                </a:solidFill>
                <a:latin typeface="Noto Sans CJK SC"/>
                <a:ea typeface="Noto Sans CJK SC"/>
              </a:rPr>
              <a:t>结果有核对入口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398264"/>
            <a:ext cx="4370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原始记录、手算样例、标定样本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584448"/>
            <a:ext cx="5394960" cy="1362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19088" y="3803904"/>
            <a:ext cx="420624" cy="402336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22191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68F91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03904"/>
            <a:ext cx="4361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0D233A"/>
                </a:solidFill>
                <a:latin typeface="Noto Sans CJK SC"/>
                <a:ea typeface="Noto Sans CJK SC"/>
              </a:rPr>
              <a:t>首次投入可以复用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4398264"/>
            <a:ext cx="4370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同类数据换一个文件夹，再跑一遍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559552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50992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程序能运行，是第一步；实验口径正确，才有科研价值。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04 / 最少必要概念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AI可以帮我们读、写、整理和执行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把它放到具体任务里理解，就已经足够开始。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48256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295144"/>
            <a:ext cx="649224" cy="649224"/>
          </a:xfrm>
          <a:prstGeom prst="ellipse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359152"/>
            <a:ext cx="649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68F91"/>
                </a:solidFill>
                <a:latin typeface="Noto Sans CJK SC"/>
                <a:ea typeface="Noto Sans CJK SC"/>
              </a:rPr>
              <a:t>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91840"/>
            <a:ext cx="2157984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论文方法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字段说明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代码与报错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2048256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1880" y="2295144"/>
            <a:ext cx="649224" cy="649224"/>
          </a:xfrm>
          <a:prstGeom prst="ellipse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359152"/>
            <a:ext cx="649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68F91"/>
                </a:solidFill>
                <a:latin typeface="Noto Sans CJK SC"/>
                <a:ea typeface="Noto Sans CJK SC"/>
              </a:rPr>
              <a:t>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291840"/>
            <a:ext cx="2157984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Python脚本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分析方案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报告初稿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048256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1656" y="2295144"/>
            <a:ext cx="649224" cy="649224"/>
          </a:xfrm>
          <a:prstGeom prst="ellipse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359152"/>
            <a:ext cx="649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68F91"/>
                </a:solidFill>
                <a:latin typeface="Noto Sans CJK SC"/>
                <a:ea typeface="Noto Sans CJK SC"/>
              </a:rPr>
              <a:t>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291840"/>
            <a:ext cx="2157984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信息对比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任务拆分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数据规则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2048256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71432" y="2295144"/>
            <a:ext cx="649224" cy="649224"/>
          </a:xfrm>
          <a:prstGeom prst="ellipse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359152"/>
            <a:ext cx="649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68F91"/>
                </a:solidFill>
                <a:latin typeface="Noto Sans CJK SC"/>
                <a:ea typeface="Noto Sans CJK SC"/>
              </a:rP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291840"/>
            <a:ext cx="2157984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读取文件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运行程序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83247"/>
                </a:solidFill>
                <a:latin typeface="Noto Sans CJK SC"/>
                <a:ea typeface="Noto Sans CJK SC"/>
              </a:rPr>
              <a:t>根据反馈修改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559552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650992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研究人员负责：数据含义、实验方法、结果验收和最终结论。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04 / 最少必要概念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代码，就是电脑能执行的操作SOP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Python帮助我们把明确的步骤固定下来。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93392"/>
            <a:ext cx="11000232" cy="1033271"/>
          </a:xfrm>
          <a:prstGeom prst="roundRect">
            <a:avLst>
              <a:gd name="adj" fmla="val 12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4241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FFFFFF"/>
                </a:solidFill>
                <a:latin typeface="Noto Sans CJK SC"/>
                <a:ea typeface="Noto Sans CJK SC"/>
              </a:rPr>
              <a:t>“把所有实验文件合并，按条件统计，输出Excel和图。”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84448"/>
            <a:ext cx="1965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03904"/>
            <a:ext cx="1655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68F91"/>
                </a:solidFill>
                <a:latin typeface="Noto Sans CJK SC"/>
                <a:ea typeface="Noto Sans CJK SC"/>
              </a:rPr>
              <a:t>读取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471416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找到输入文件</a:t>
            </a:r>
          </a:p>
        </p:txBody>
      </p:sp>
      <p:sp>
        <p:nvSpPr>
          <p:cNvPr id="13" name="Chevron 12"/>
          <p:cNvSpPr/>
          <p:nvPr/>
        </p:nvSpPr>
        <p:spPr>
          <a:xfrm>
            <a:off x="2633472" y="4178808"/>
            <a:ext cx="164592" cy="210312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2928" y="3584448"/>
            <a:ext cx="1965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3803904"/>
            <a:ext cx="1655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68F91"/>
                </a:solidFill>
                <a:latin typeface="Noto Sans CJK SC"/>
                <a:ea typeface="Noto Sans CJK SC"/>
              </a:rPr>
              <a:t>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71416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字段、编号、单位</a:t>
            </a:r>
          </a:p>
        </p:txBody>
      </p:sp>
      <p:sp>
        <p:nvSpPr>
          <p:cNvPr id="17" name="Chevron 16"/>
          <p:cNvSpPr/>
          <p:nvPr/>
        </p:nvSpPr>
        <p:spPr>
          <a:xfrm>
            <a:off x="4892040" y="4178808"/>
            <a:ext cx="164592" cy="210312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3584448"/>
            <a:ext cx="1965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3803904"/>
            <a:ext cx="1655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68F91"/>
                </a:solidFill>
                <a:latin typeface="Noto Sans CJK SC"/>
                <a:ea typeface="Noto Sans CJK SC"/>
              </a:rPr>
              <a:t>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4471416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合并与分组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0608" y="4178808"/>
            <a:ext cx="164592" cy="210312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70064" y="3584448"/>
            <a:ext cx="1965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03904"/>
            <a:ext cx="1655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68F91"/>
                </a:solidFill>
                <a:latin typeface="Noto Sans CJK SC"/>
                <a:ea typeface="Noto Sans CJK SC"/>
              </a:rPr>
              <a:t>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4471416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统计与作图</a:t>
            </a:r>
          </a:p>
        </p:txBody>
      </p:sp>
      <p:sp>
        <p:nvSpPr>
          <p:cNvPr id="25" name="Chevron 24"/>
          <p:cNvSpPr/>
          <p:nvPr/>
        </p:nvSpPr>
        <p:spPr>
          <a:xfrm>
            <a:off x="9409176" y="4178808"/>
            <a:ext cx="164592" cy="210312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28632" y="3584448"/>
            <a:ext cx="19659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803904"/>
            <a:ext cx="1655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68F91"/>
                </a:solidFill>
                <a:latin typeface="Noto Sans CJK SC"/>
                <a:ea typeface="Noto Sans CJK SC"/>
              </a:rPr>
              <a:t>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4471416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Excel与图片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559552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650992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第一次：AI协助编写和调试。以后：用已验证的脚本处理同类数据。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04 / 最少必要概念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一张图认清五个角色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从理解需求，到真正算出结果，每一层各有职责。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47672"/>
            <a:ext cx="11000232" cy="475488"/>
          </a:xfrm>
          <a:prstGeom prst="roundRect">
            <a:avLst>
              <a:gd name="adj" fmla="val 5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Noto Sans CJK SC"/>
                <a:ea typeface="Noto Sans CJK SC"/>
              </a:rPr>
              <a:t>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57400"/>
            <a:ext cx="3904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Noto Sans CJK SC"/>
                <a:ea typeface="Noto Sans CJK SC"/>
              </a:rPr>
              <a:t>可以怎样理解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20574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Noto Sans CJK SC"/>
                <a:ea typeface="Noto Sans CJK SC"/>
              </a:rPr>
              <a:t>在数据处理中做什么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87168"/>
            <a:ext cx="11000232" cy="5212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59689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AI模型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96896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理解需求、生成方案和代码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2596896"/>
            <a:ext cx="4187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理解“合并、统计、作图”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63240"/>
            <a:ext cx="11000232" cy="521207"/>
          </a:xfrm>
          <a:prstGeom prst="roundRect">
            <a:avLst>
              <a:gd name="adj" fmla="val 2000"/>
            </a:avLst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17296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Agent工具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72968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带文件与运行工具的任务助手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3172968"/>
            <a:ext cx="4187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OpenCode组织执行与修错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39312"/>
            <a:ext cx="11000232" cy="5212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374904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74904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可重复使用的方法与资源包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749040"/>
            <a:ext cx="4187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保存实验室处理规范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15384"/>
            <a:ext cx="11000232" cy="521207"/>
          </a:xfrm>
          <a:prstGeom prst="roundRect">
            <a:avLst>
              <a:gd name="adj" fmla="val 2000"/>
            </a:avLst>
          </a:prstGeom>
          <a:solidFill>
            <a:srgbClr val="EA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32511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25112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执行计算的程序语言与环境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325112"/>
            <a:ext cx="4187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合并、计算、生成文件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791456"/>
            <a:ext cx="11000232" cy="52120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90118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901184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数据输入、检查与交付形式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4901184"/>
            <a:ext cx="4187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核对明细、查看汇总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650992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742431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68F91"/>
                </a:solidFill>
                <a:latin typeface="Noto Sans CJK SC"/>
                <a:ea typeface="Noto Sans CJK SC"/>
              </a:rPr>
              <a:t>模型、工具、方法和输出格式，共同组成一套工作流程。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09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04 / 最少必要概念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Excel与Python，怎样分工？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保留熟悉的查看方式，把重复计算交给程序。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537667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68F91"/>
                </a:solidFill>
                <a:latin typeface="DejaVu Sans"/>
                <a:ea typeface="DejaVu Sans"/>
              </a:rPr>
              <a:t>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267712"/>
            <a:ext cx="1508760" cy="338328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2" y="2286000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查看与沟通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" y="3118103"/>
            <a:ext cx="64008" cy="64008"/>
          </a:xfrm>
          <a:prstGeom prst="ellipse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99232"/>
            <a:ext cx="44897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检查样例和明细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" y="3538727"/>
            <a:ext cx="64008" cy="64008"/>
          </a:xfrm>
          <a:prstGeom prst="ellipse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419856"/>
            <a:ext cx="44897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临时筛选、人工复核</a:t>
            </a:r>
          </a:p>
        </p:txBody>
      </p:sp>
      <p:sp>
        <p:nvSpPr>
          <p:cNvPr id="16" name="Oval 15"/>
          <p:cNvSpPr/>
          <p:nvPr/>
        </p:nvSpPr>
        <p:spPr>
          <a:xfrm>
            <a:off x="905256" y="3959352"/>
            <a:ext cx="64008" cy="64008"/>
          </a:xfrm>
          <a:prstGeom prst="ellipse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840480"/>
            <a:ext cx="44897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与同事共享结果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7667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3" y="2212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3868AF"/>
                </a:solidFill>
                <a:latin typeface="DejaVu Sans"/>
                <a:ea typeface="DejaVu Sans"/>
              </a:rPr>
              <a:t>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267712"/>
            <a:ext cx="1508760" cy="338328"/>
          </a:xfrm>
          <a:prstGeom prst="roundRect">
            <a:avLst>
              <a:gd name="adj" fmla="val 20000"/>
            </a:avLst>
          </a:prstGeom>
          <a:solidFill>
            <a:srgbClr val="EA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2286000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3868AF"/>
                </a:solidFill>
                <a:latin typeface="Noto Sans CJK SC"/>
                <a:ea typeface="Noto Sans CJK SC"/>
              </a:rPr>
              <a:t>批量与复用</a:t>
            </a:r>
          </a:p>
        </p:txBody>
      </p:sp>
      <p:sp>
        <p:nvSpPr>
          <p:cNvPr id="22" name="Oval 21"/>
          <p:cNvSpPr/>
          <p:nvPr/>
        </p:nvSpPr>
        <p:spPr>
          <a:xfrm>
            <a:off x="6528816" y="3118103"/>
            <a:ext cx="64008" cy="64008"/>
          </a:xfrm>
          <a:prstGeom prst="ellipse">
            <a:avLst/>
          </a:prstGeom>
          <a:solidFill>
            <a:srgbClr val="386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2999232"/>
            <a:ext cx="44897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跨文件合并和单位换算</a:t>
            </a:r>
          </a:p>
        </p:txBody>
      </p:sp>
      <p:sp>
        <p:nvSpPr>
          <p:cNvPr id="24" name="Oval 23"/>
          <p:cNvSpPr/>
          <p:nvPr/>
        </p:nvSpPr>
        <p:spPr>
          <a:xfrm>
            <a:off x="6528816" y="3538727"/>
            <a:ext cx="64008" cy="64008"/>
          </a:xfrm>
          <a:prstGeom prst="ellipse">
            <a:avLst/>
          </a:prstGeom>
          <a:solidFill>
            <a:srgbClr val="386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419856"/>
            <a:ext cx="44897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按固定规则统计、作图</a:t>
            </a:r>
          </a:p>
        </p:txBody>
      </p:sp>
      <p:sp>
        <p:nvSpPr>
          <p:cNvPr id="26" name="Oval 25"/>
          <p:cNvSpPr/>
          <p:nvPr/>
        </p:nvSpPr>
        <p:spPr>
          <a:xfrm>
            <a:off x="6528816" y="3959352"/>
            <a:ext cx="64008" cy="64008"/>
          </a:xfrm>
          <a:prstGeom prst="ellipse">
            <a:avLst/>
          </a:prstGeom>
          <a:solidFill>
            <a:srgbClr val="386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840480"/>
            <a:ext cx="44897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83247"/>
                </a:solidFill>
                <a:latin typeface="Noto Sans CJK SC"/>
                <a:ea typeface="Noto Sans CJK SC"/>
              </a:rPr>
              <a:t>重复运行并保留日志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837176"/>
            <a:ext cx="2852928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855464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83247"/>
                </a:solidFill>
                <a:latin typeface="Noto Sans CJK SC"/>
                <a:ea typeface="Noto Sans CJK SC"/>
              </a:rPr>
              <a:t>Excel / CSV 输入</a:t>
            </a:r>
          </a:p>
        </p:txBody>
      </p:sp>
      <p:sp>
        <p:nvSpPr>
          <p:cNvPr id="30" name="Chevron 29"/>
          <p:cNvSpPr/>
          <p:nvPr/>
        </p:nvSpPr>
        <p:spPr>
          <a:xfrm>
            <a:off x="4014215" y="4992624"/>
            <a:ext cx="356616" cy="21945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26864" y="4837176"/>
            <a:ext cx="2862072" cy="512064"/>
          </a:xfrm>
          <a:prstGeom prst="roundRect">
            <a:avLst>
              <a:gd name="adj" fmla="val 20000"/>
            </a:avLst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4855464"/>
            <a:ext cx="27157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Noto Sans CJK SC"/>
                <a:ea typeface="Noto Sans CJK SC"/>
              </a:rPr>
              <a:t>Python 批处理</a:t>
            </a:r>
          </a:p>
        </p:txBody>
      </p:sp>
      <p:sp>
        <p:nvSpPr>
          <p:cNvPr id="33" name="Chevron 32"/>
          <p:cNvSpPr/>
          <p:nvPr/>
        </p:nvSpPr>
        <p:spPr>
          <a:xfrm>
            <a:off x="7772400" y="4992624"/>
            <a:ext cx="356616" cy="21945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85048" y="4837176"/>
            <a:ext cx="2852928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4855464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83247"/>
                </a:solidFill>
                <a:latin typeface="Noto Sans CJK SC"/>
                <a:ea typeface="Noto Sans CJK SC"/>
              </a:rPr>
              <a:t>Excel / 图片输出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660136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751576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AI协助写和改程序；固定脚本的日常运行，可以不调用AI。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10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05 / 工具与操作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工具怎么选：找到适合自己的入口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以公司实际可用的服务和版本为准。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93392"/>
            <a:ext cx="1100023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0D233A"/>
                </a:solidFill>
                <a:latin typeface="Noto Sans CJK SC"/>
                <a:ea typeface="Noto Sans CJK SC"/>
              </a:rPr>
              <a:t>对话式AI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148840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解释概念、拆解任务、讨论处理规则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217627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先把任务说清楚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9192"/>
            <a:ext cx="1100023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3017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0D233A"/>
                </a:solidFill>
                <a:latin typeface="Noto Sans CJK SC"/>
                <a:ea typeface="Noto Sans CJK SC"/>
              </a:rPr>
              <a:t>Continue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834640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在已有编辑器里解释和修改脚本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86207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保留熟悉的内部入口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64992"/>
            <a:ext cx="11000232" cy="594360"/>
          </a:xfrm>
          <a:prstGeom prst="roundRect">
            <a:avLst>
              <a:gd name="adj" fmla="val 6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3017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5ED4C6"/>
                </a:solidFill>
                <a:latin typeface="Noto Sans CJK SC"/>
                <a:ea typeface="Noto Sans CJK SC"/>
              </a:rPr>
              <a:t>OpenCode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3520440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FFFFFF"/>
                </a:solidFill>
                <a:latin typeface="Noto Sans CJK SC"/>
                <a:ea typeface="Noto Sans CJK SC"/>
              </a:rPr>
              <a:t>围绕项目文件，读写、运行、修错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354787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5ED4C6"/>
                </a:solidFill>
                <a:latin typeface="Noto Sans CJK SC"/>
                <a:ea typeface="Noto Sans CJK SC"/>
              </a:rPr>
              <a:t>本次重点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50791"/>
            <a:ext cx="1100023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3017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0D233A"/>
                </a:solidFill>
                <a:latin typeface="Noto Sans CJK SC"/>
                <a:ea typeface="Noto Sans CJK SC"/>
              </a:rPr>
              <a:t>Claude Code / 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4206240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其他编程Agent的代表工具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423367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理解同类工具的定位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736592"/>
            <a:ext cx="1100023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3017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0D233A"/>
                </a:solidFill>
                <a:latin typeface="Noto Sans CJK SC"/>
                <a:ea typeface="Noto Sans CJK SC"/>
              </a:rPr>
              <a:t>Python脚本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4892040"/>
            <a:ext cx="48188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83247"/>
                </a:solidFill>
                <a:latin typeface="Noto Sans CJK SC"/>
                <a:ea typeface="Noto Sans CJK SC"/>
              </a:rPr>
              <a:t>按已验证的方法处理下一批数据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491947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最终可复用的成果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617487"/>
                </a:solidFill>
                <a:latin typeface="Noto Sans CJK SC"/>
                <a:ea typeface="Noto Sans CJK SC"/>
              </a:rPr>
              <a:t>同类工具的功能会重叠，实际能力取决于配置、权限和所接入的模型。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19963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3"/>
              </a:rPr>
              <a:t>功能参考：OpenCode / Claude Code / Codex 官方文档；内部Continue以单位平台说明为准。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11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05 / 工具与操作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OpenCode如何完成一个数据任务？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给出目标后，围绕真实文件形成“执行—反馈—修改”的过程。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38528"/>
            <a:ext cx="11000232" cy="822960"/>
          </a:xfrm>
          <a:prstGeom prst="roundRect">
            <a:avLst>
              <a:gd name="adj" fmla="val 12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67128"/>
            <a:ext cx="10469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FFFFFF"/>
                </a:solidFill>
                <a:latin typeface="Noto Sans CJK SC"/>
                <a:ea typeface="Noto Sans CJK SC"/>
              </a:rPr>
              <a:t>“读取这个文件夹，合并实验数据，输出Excel和趋势图。”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55264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8386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40873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目录与字段</a:t>
            </a:r>
          </a:p>
        </p:txBody>
      </p:sp>
      <p:sp>
        <p:nvSpPr>
          <p:cNvPr id="13" name="Chevron 12"/>
          <p:cNvSpPr/>
          <p:nvPr/>
        </p:nvSpPr>
        <p:spPr>
          <a:xfrm>
            <a:off x="2313432" y="3803904"/>
            <a:ext cx="109728" cy="17373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5164" y="3255264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6604" y="348386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列步骤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028" y="40873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规则与疑问</a:t>
            </a:r>
          </a:p>
        </p:txBody>
      </p:sp>
      <p:sp>
        <p:nvSpPr>
          <p:cNvPr id="17" name="Chevron 16"/>
          <p:cNvSpPr/>
          <p:nvPr/>
        </p:nvSpPr>
        <p:spPr>
          <a:xfrm>
            <a:off x="4174235" y="3803904"/>
            <a:ext cx="109728" cy="17373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8" y="3255264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48386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写程序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40873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Python脚本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3803904"/>
            <a:ext cx="109728" cy="17373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6772" y="3255264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8212" y="348386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1636" y="40873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结果与报错</a:t>
            </a:r>
          </a:p>
        </p:txBody>
      </p:sp>
      <p:sp>
        <p:nvSpPr>
          <p:cNvPr id="25" name="Chevron 24"/>
          <p:cNvSpPr/>
          <p:nvPr/>
        </p:nvSpPr>
        <p:spPr>
          <a:xfrm>
            <a:off x="7895844" y="3803904"/>
            <a:ext cx="109728" cy="17373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37576" y="3255264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348386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再修改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0873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按反馈调整</a:t>
            </a:r>
          </a:p>
        </p:txBody>
      </p:sp>
      <p:sp>
        <p:nvSpPr>
          <p:cNvPr id="29" name="Chevron 28"/>
          <p:cNvSpPr/>
          <p:nvPr/>
        </p:nvSpPr>
        <p:spPr>
          <a:xfrm>
            <a:off x="9756648" y="3803904"/>
            <a:ext cx="109728" cy="173736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98380" y="3255264"/>
            <a:ext cx="16916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9820" y="348386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3244" y="40873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617487"/>
                </a:solidFill>
                <a:latin typeface="Noto Sans CJK SC"/>
                <a:ea typeface="Noto Sans CJK SC"/>
              </a:rPr>
              <a:t>文件与说明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87968" y="4617720"/>
            <a:ext cx="0" cy="457200"/>
          </a:xfrm>
          <a:prstGeom prst="line">
            <a:avLst/>
          </a:prstGeom>
          <a:ln w="17780">
            <a:solidFill>
              <a:srgbClr val="168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66360" y="5074920"/>
            <a:ext cx="3721608" cy="0"/>
          </a:xfrm>
          <a:prstGeom prst="line">
            <a:avLst/>
          </a:prstGeom>
          <a:ln w="17780">
            <a:solidFill>
              <a:srgbClr val="168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66360" y="4617720"/>
            <a:ext cx="0" cy="457200"/>
          </a:xfrm>
          <a:prstGeom prst="line">
            <a:avLst/>
          </a:prstGeom>
          <a:ln w="17780">
            <a:solidFill>
              <a:srgbClr val="168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12664" y="5166360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168F91"/>
                </a:solidFill>
                <a:latin typeface="Noto Sans CJK SC"/>
                <a:ea typeface="Noto Sans CJK SC"/>
              </a:rPr>
              <a:t>根据报错和检查结果继续修正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650992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42431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AI可以尝试修复运行错误；科研人员仍要核对数据与方法。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19963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3"/>
              </a:rPr>
              <a:t>来源：OpenCode官方入门文档；流程为教学示意。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12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05 / 工具与操作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第一次使用：先看方案，再小范围试跑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准备2—3个样例，比直接交出整个数据目录更容易检查。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993392"/>
            <a:ext cx="448056" cy="384048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017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7510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0D233A"/>
                </a:solidFill>
                <a:latin typeface="Noto Sans CJK SC"/>
                <a:ea typeface="Noto Sans CJK SC"/>
              </a:rPr>
              <a:t>准备环境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359152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使用单位允许的模型服务，准备Python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688336"/>
            <a:ext cx="448056" cy="384048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06624"/>
            <a:ext cx="3017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6700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0D233A"/>
                </a:solidFill>
                <a:latin typeface="Noto Sans CJK SC"/>
                <a:ea typeface="Noto Sans CJK SC"/>
              </a:rPr>
              <a:t>放入样例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3054096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样例数据 + 字段说明 + 预期输出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383280"/>
            <a:ext cx="448056" cy="384048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01568"/>
            <a:ext cx="3017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36499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0D233A"/>
                </a:solidFill>
                <a:latin typeface="Noto Sans CJK SC"/>
                <a:ea typeface="Noto Sans CJK SC"/>
              </a:rPr>
              <a:t>先看方案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749040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列出处理步骤与不明确之处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078224"/>
            <a:ext cx="448056" cy="384048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2"/>
            <a:ext cx="3017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05993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0D233A"/>
                </a:solidFill>
                <a:latin typeface="Noto Sans CJK SC"/>
                <a:ea typeface="Noto Sans CJK SC"/>
              </a:rPr>
              <a:t>执行试跑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443984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按确认的规则生成程序并运行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4773168"/>
            <a:ext cx="448056" cy="384048"/>
          </a:xfrm>
          <a:prstGeom prst="roundRect">
            <a:avLst>
              <a:gd name="adj" fmla="val 20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91456"/>
            <a:ext cx="3017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68F91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0D233A"/>
                </a:solidFill>
                <a:latin typeface="Noto Sans CJK SC"/>
                <a:ea typeface="Noto Sans CJK SC"/>
              </a:rPr>
              <a:t>核对结果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" y="5138928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617487"/>
                </a:solidFill>
                <a:latin typeface="Noto Sans CJK SC"/>
                <a:ea typeface="Noto Sans CJK SC"/>
              </a:rPr>
              <a:t>检查新输出，再扩展到完整批次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9792" y="1993392"/>
            <a:ext cx="4114800" cy="3236976"/>
          </a:xfrm>
          <a:prstGeom prst="roundRect">
            <a:avLst>
              <a:gd name="adj" fmla="val 12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2295144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Noto Sans CJK SC"/>
                <a:ea typeface="Noto Sans CJK SC"/>
              </a:rPr>
              <a:t>先准备一个练习文件夹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3017520"/>
            <a:ext cx="32826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C5D5DF"/>
                </a:solidFill>
                <a:latin typeface="Noto Sans CJK SC"/>
                <a:ea typeface="Noto Sans CJK SC"/>
              </a:rPr>
              <a:t>raw/     样例数据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2" y="3529584"/>
            <a:ext cx="32826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C5D5DF"/>
                </a:solidFill>
                <a:latin typeface="Noto Sans CJK SC"/>
                <a:ea typeface="Noto Sans CJK SC"/>
              </a:rPr>
              <a:t>说明      字段与单位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4041648"/>
            <a:ext cx="32826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C5D5DF"/>
                </a:solidFill>
                <a:latin typeface="Noto Sans CJK SC"/>
                <a:ea typeface="Noto Sans CJK SC"/>
              </a:rPr>
              <a:t>outputs/ 新输出目录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17536" y="4672584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204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4690872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5ED4C6"/>
                </a:solidFill>
                <a:latin typeface="Noto Sans CJK SC"/>
                <a:ea typeface="Noto Sans CJK SC"/>
              </a:rPr>
              <a:t>Plan · 分析方案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82912" y="4672584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204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56064" y="4690872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5ED4C6"/>
                </a:solidFill>
                <a:latin typeface="Noto Sans CJK SC"/>
                <a:ea typeface="Noto Sans CJK SC"/>
              </a:rPr>
              <a:t>Build · 实施运行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669280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60720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每一步都能看到输入、处理方式和输出，才容易发现问题。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19963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3"/>
              </a:rPr>
              <a:t>来源：OpenCode Agents；模式和访问能力受版本及权限配置影响。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05 / 工具与操作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把需求说成一张“实验处理单”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输入、目标、规则、输出、验收：五件事说清楚。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02536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052828"/>
            <a:ext cx="3840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83247"/>
                </a:solidFill>
                <a:latin typeface="Noto Sans CJK SC"/>
                <a:ea typeface="Noto Sans CJK SC"/>
              </a:rPr>
              <a:t>数据在哪？字段与单位是什么？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06624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2756916"/>
            <a:ext cx="3840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83247"/>
                </a:solidFill>
                <a:latin typeface="Noto Sans CJK SC"/>
                <a:ea typeface="Noto Sans CJK SC"/>
              </a:rPr>
              <a:t>希望回答什么实验问题？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10712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3461004"/>
            <a:ext cx="3840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83247"/>
                </a:solidFill>
                <a:latin typeface="Noto Sans CJK SC"/>
                <a:ea typeface="Noto Sans CJK SC"/>
              </a:rPr>
              <a:t>怎样合并、分组和处理异常？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148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4165091"/>
            <a:ext cx="3840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83247"/>
                </a:solidFill>
                <a:latin typeface="Noto Sans CJK SC"/>
                <a:ea typeface="Noto Sans CJK SC"/>
              </a:rPr>
              <a:t>需要哪些表格、图和文件？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1888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68F91"/>
                </a:solidFill>
                <a:latin typeface="Noto Sans CJK SC"/>
                <a:ea typeface="Noto Sans CJK SC"/>
              </a:rPr>
              <a:t>验收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869179"/>
            <a:ext cx="3840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83247"/>
                </a:solidFill>
                <a:latin typeface="Noto Sans CJK SC"/>
                <a:ea typeface="Noto Sans CJK SC"/>
              </a:rPr>
              <a:t>用哪些样例核对结果？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24728" y="1947672"/>
            <a:ext cx="5769864" cy="3584448"/>
          </a:xfrm>
          <a:prstGeom prst="roundRect">
            <a:avLst>
              <a:gd name="adj" fmla="val 12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231136"/>
            <a:ext cx="5175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FFFFFF"/>
                </a:solidFill>
                <a:latin typeface="Noto Sans CJK SC"/>
                <a:ea typeface="Noto Sans CJK SC"/>
              </a:rPr>
              <a:t>一个可以直接交给AI的任务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852928"/>
            <a:ext cx="506577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>请合并 raw 文件夹下的实验CSV，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>按批次和实验条件整理结果。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/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>样品编号按文本保留；未知单位先报告；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>缺失值不填零，原始文件不覆盖。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/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>输出明细、汇总、异常清单和趋势图。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D9E5EB"/>
                </a:solidFill>
                <a:latin typeface="Noto Sans CJK SC"/>
                <a:ea typeface="Noto Sans CJK SC"/>
              </a:rPr>
              <a:t>先检查3个样例，给出处理方案和核对方法。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05856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797296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专业知识体现在规则里；验收标准要和需求一起给出。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284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D879A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6D879A"/>
                </a:solidFill>
                <a:latin typeface="DejaVu Sans"/>
                <a:ea typeface="DejaVu Sans"/>
              </a:rPr>
              <a:t>14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5ED4C6"/>
                </a:solidFill>
                <a:latin typeface="Noto Sans CJK SC"/>
                <a:ea typeface="Noto Sans CJK SC"/>
              </a:rPr>
              <a:t>06 / 核心链路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FFFFFF"/>
                </a:solidFill>
                <a:latin typeface="Noto Sans CJK SC"/>
                <a:ea typeface="Noto Sans CJK SC"/>
              </a:rPr>
              <a:t>AI → Skill → Python →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A7BECE"/>
                </a:solidFill>
                <a:latin typeface="Noto Sans CJK SC"/>
                <a:ea typeface="Noto Sans CJK SC"/>
              </a:rPr>
              <a:t>让方法、程序与结果连成一条能检查、能复用的流程。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2011680"/>
            <a:ext cx="2112264" cy="786384"/>
          </a:xfrm>
          <a:prstGeom prst="roundRect">
            <a:avLst>
              <a:gd name="adj" fmla="val 12000"/>
            </a:avLst>
          </a:prstGeom>
          <a:solidFill>
            <a:srgbClr val="24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12264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5ED4C6"/>
                </a:solidFill>
                <a:latin typeface="Noto Sans CJK SC"/>
                <a:ea typeface="Noto Sans CJK SC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496312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C1D5DD"/>
                </a:solidFill>
                <a:latin typeface="Noto Sans CJK SC"/>
                <a:ea typeface="Noto Sans CJK SC"/>
              </a:rPr>
              <a:t>规则 · 模板 · 脚本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58768" y="2807208"/>
            <a:ext cx="0" cy="411480"/>
          </a:xfrm>
          <a:prstGeom prst="line">
            <a:avLst/>
          </a:prstGeom>
          <a:ln w="17780"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13832" y="2011680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24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2130552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FFFFFF"/>
                </a:solidFill>
                <a:latin typeface="Noto Sans CJK SC"/>
                <a:ea typeface="Noto Sans CJK SC"/>
              </a:rPr>
              <a:t>原始数据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2374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C1D5DD"/>
                </a:solidFill>
                <a:latin typeface="Noto Sans CJK SC"/>
                <a:ea typeface="Noto Sans CJK SC"/>
              </a:rPr>
              <a:t>CSV / Excel / 图像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6812" y="2807208"/>
            <a:ext cx="0" cy="411480"/>
          </a:xfrm>
          <a:prstGeom prst="line">
            <a:avLst/>
          </a:prstGeom>
          <a:ln w="17780"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3273552"/>
            <a:ext cx="1664208" cy="1115568"/>
          </a:xfrm>
          <a:prstGeom prst="roundRect">
            <a:avLst>
              <a:gd name="adj" fmla="val 12000"/>
            </a:avLst>
          </a:prstGeom>
          <a:solidFill>
            <a:srgbClr val="17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511296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FFFFFF"/>
                </a:solidFill>
                <a:latin typeface="Noto Sans CJK SC"/>
                <a:ea typeface="Noto Sans CJK SC"/>
              </a:rPr>
              <a:t>科研人员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404164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C7DEE5"/>
                </a:solidFill>
                <a:latin typeface="Noto Sans CJK SC"/>
                <a:ea typeface="Noto Sans CJK SC"/>
              </a:rPr>
              <a:t>定义问题与要求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7208" y="3273552"/>
            <a:ext cx="2112264" cy="1115568"/>
          </a:xfrm>
          <a:prstGeom prst="roundRect">
            <a:avLst>
              <a:gd name="adj" fmla="val 12000"/>
            </a:avLst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51129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FFFFFF"/>
                </a:solidFill>
                <a:latin typeface="Noto Sans CJK SC"/>
                <a:ea typeface="Noto Sans CJK SC"/>
              </a:rPr>
              <a:t>AI / OpenCode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4041648"/>
            <a:ext cx="20025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C7DEE5"/>
                </a:solidFill>
                <a:latin typeface="Noto Sans CJK SC"/>
                <a:ea typeface="Noto Sans CJK SC"/>
              </a:rPr>
              <a:t>理解并组织执行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13832" y="3273552"/>
            <a:ext cx="1965960" cy="1115568"/>
          </a:xfrm>
          <a:prstGeom prst="roundRect">
            <a:avLst>
              <a:gd name="adj" fmla="val 12000"/>
            </a:avLst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6984" y="351129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FFFFFF"/>
                </a:solidFill>
                <a:latin typeface="Noto Sans CJK SC"/>
                <a:ea typeface="Noto Sans CJK SC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4041648"/>
            <a:ext cx="1856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C7DEE5"/>
                </a:solidFill>
                <a:latin typeface="Noto Sans CJK SC"/>
                <a:ea typeface="Noto Sans CJK SC"/>
              </a:rPr>
              <a:t>处理数据与计算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273552"/>
            <a:ext cx="3511296" cy="1115568"/>
          </a:xfrm>
          <a:prstGeom prst="roundRect">
            <a:avLst>
              <a:gd name="adj" fmla="val 12000"/>
            </a:avLst>
          </a:prstGeom>
          <a:solidFill>
            <a:srgbClr val="17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511296"/>
            <a:ext cx="33649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Noto Sans CJK SC"/>
                <a:ea typeface="Noto Sans CJK SC"/>
              </a:rPr>
              <a:t>Excel + 图表 + 日志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041648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C7DEE5"/>
                </a:solidFill>
                <a:latin typeface="Noto Sans CJK SC"/>
                <a:ea typeface="Noto Sans CJK SC"/>
              </a:rPr>
              <a:t>查看、沟通与追溯</a:t>
            </a:r>
          </a:p>
        </p:txBody>
      </p:sp>
      <p:sp>
        <p:nvSpPr>
          <p:cNvPr id="28" name="Chevron 27"/>
          <p:cNvSpPr/>
          <p:nvPr/>
        </p:nvSpPr>
        <p:spPr>
          <a:xfrm>
            <a:off x="2423160" y="3730752"/>
            <a:ext cx="210312" cy="228600"/>
          </a:xfrm>
          <a:prstGeom prst="chevron">
            <a:avLst/>
          </a:prstGeom>
          <a:solidFill>
            <a:srgbClr val="5E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5138928" y="3730752"/>
            <a:ext cx="210312" cy="228600"/>
          </a:xfrm>
          <a:prstGeom prst="chevron">
            <a:avLst/>
          </a:prstGeom>
          <a:solidFill>
            <a:srgbClr val="5E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7690104" y="3730752"/>
            <a:ext cx="210312" cy="228600"/>
          </a:xfrm>
          <a:prstGeom prst="chevron">
            <a:avLst/>
          </a:prstGeom>
          <a:solidFill>
            <a:srgbClr val="5E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829800" y="4416552"/>
            <a:ext cx="0" cy="310896"/>
          </a:xfrm>
          <a:prstGeom prst="line">
            <a:avLst/>
          </a:prstGeom>
          <a:ln w="17780"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83296" y="4809744"/>
            <a:ext cx="3511296" cy="530352"/>
          </a:xfrm>
          <a:prstGeom prst="roundRect">
            <a:avLst>
              <a:gd name="adj" fmla="val 12000"/>
            </a:avLst>
          </a:prstGeom>
          <a:solidFill>
            <a:srgbClr val="28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4919472"/>
            <a:ext cx="32369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5ED4C6"/>
                </a:solidFill>
                <a:latin typeface="Noto Sans CJK SC"/>
                <a:ea typeface="Noto Sans CJK SC"/>
              </a:rPr>
              <a:t>人工验收与科研解释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58768" y="5093208"/>
            <a:ext cx="4105656" cy="0"/>
          </a:xfrm>
          <a:prstGeom prst="line">
            <a:avLst/>
          </a:prstGeom>
          <a:ln w="13970"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58768" y="4471416"/>
            <a:ext cx="0" cy="621792"/>
          </a:xfrm>
          <a:prstGeom prst="line">
            <a:avLst/>
          </a:prstGeom>
          <a:ln w="13970"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33087" y="5257800"/>
            <a:ext cx="36393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EC8D3"/>
                </a:solidFill>
                <a:latin typeface="Noto Sans CJK SC"/>
                <a:ea typeface="Noto Sans CJK SC"/>
              </a:rPr>
              <a:t>确认后的规则与修正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769864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17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861303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5ED4C6"/>
                </a:solidFill>
                <a:latin typeface="Noto Sans CJK SC"/>
                <a:ea typeface="Noto Sans CJK SC"/>
              </a:rPr>
              <a:t>Skill提供方法；Agent读取方法，调用Python完成任务。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437376"/>
            <a:ext cx="11000232" cy="0"/>
          </a:xfrm>
          <a:prstGeom prst="line">
            <a:avLst/>
          </a:prstGeom>
          <a:ln w="762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8292A0"/>
                </a:solidFill>
                <a:latin typeface="Noto Sans CJK SC"/>
                <a:ea typeface="Noto Sans CJK SC"/>
              </a:rPr>
              <a:t>AI辅助科研  /  面向非计算机同事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83096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8292A0"/>
                </a:solidFill>
                <a:latin typeface="DejaVu Sans"/>
                <a:ea typeface="DejaVu Sans"/>
              </a:rPr>
              <a:t>15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68F91"/>
                </a:solidFill>
                <a:latin typeface="Noto Sans CJK SC"/>
                <a:ea typeface="Noto Sans CJK SC"/>
              </a:rPr>
              <a:t>06 / 核心链路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D233A"/>
                </a:solidFill>
                <a:latin typeface="Noto Sans CJK SC"/>
                <a:ea typeface="Noto Sans CJK SC"/>
              </a:rPr>
              <a:t>Skill：把实验室经验整理成可调用的方法包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617487"/>
                </a:solidFill>
                <a:latin typeface="Noto Sans CJK SC"/>
                <a:ea typeface="Noto Sans CJK SC"/>
              </a:rPr>
              <a:t>让同一类任务，有一套可以复用、更新和检查的做法。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3858768" cy="3383280"/>
          </a:xfrm>
          <a:prstGeom prst="roundRect">
            <a:avLst>
              <a:gd name="adj" fmla="val 12000"/>
            </a:avLst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340864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FFFFFF"/>
                </a:solidFill>
                <a:latin typeface="Noto Sans CJK SC"/>
                <a:ea typeface="Noto Sans CJK SC"/>
              </a:rPr>
              <a:t>一次提示词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0632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5ED4C6"/>
                </a:solidFill>
                <a:latin typeface="Noto Sans CJK SC"/>
                <a:ea typeface="Noto Sans CJK SC"/>
              </a:rPr>
              <a:t>这一次，做什么？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9624"/>
            <a:ext cx="323697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C8D9E3"/>
                </a:solidFill>
                <a:latin typeface="Noto Sans CJK SC"/>
                <a:ea typeface="Noto Sans CJK SC"/>
              </a:rPr>
              <a:t>处理这批实验数据，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C8D9E3"/>
                </a:solidFill>
                <a:latin typeface="Noto Sans CJK SC"/>
                <a:ea typeface="Noto Sans CJK SC"/>
              </a:rPr>
              <a:t>合并文件，生成汇总表。</a:t>
            </a:r>
          </a:p>
        </p:txBody>
      </p:sp>
      <p:sp>
        <p:nvSpPr>
          <p:cNvPr id="12" name="Chevron 11"/>
          <p:cNvSpPr/>
          <p:nvPr/>
        </p:nvSpPr>
        <p:spPr>
          <a:xfrm>
            <a:off x="4645152" y="3429000"/>
            <a:ext cx="374904" cy="320040"/>
          </a:xfrm>
          <a:prstGeom prst="chevron">
            <a:avLst/>
          </a:prstGeom>
          <a:solidFill>
            <a:srgbClr val="1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30368" y="2011680"/>
            <a:ext cx="6364224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2322576"/>
            <a:ext cx="56875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168F91"/>
                </a:solidFill>
                <a:latin typeface="Noto Sans CJK SC"/>
                <a:ea typeface="Noto Sans CJK SC"/>
              </a:rPr>
              <a:t>一个Skill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2990088"/>
            <a:ext cx="5577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0D233A"/>
                </a:solidFill>
                <a:latin typeface="Noto Sans CJK SC"/>
                <a:ea typeface="Noto Sans CJK SC"/>
              </a:rPr>
              <a:t>这一类任务，通常怎样做？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675887"/>
            <a:ext cx="2734056" cy="630936"/>
          </a:xfrm>
          <a:prstGeom prst="roundRect">
            <a:avLst>
              <a:gd name="adj" fmla="val 8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3739896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785615"/>
            <a:ext cx="18653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83247"/>
                </a:solidFill>
                <a:latin typeface="Noto Sans CJK SC"/>
                <a:ea typeface="Noto Sans CJK SC"/>
              </a:rPr>
              <a:t>字段、单位、异常处理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675887"/>
            <a:ext cx="2734056" cy="630936"/>
          </a:xfrm>
          <a:prstGeom prst="roundRect">
            <a:avLst>
              <a:gd name="adj" fmla="val 8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3739896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脚本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785615"/>
            <a:ext cx="18653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83247"/>
                </a:solidFill>
                <a:latin typeface="Noto Sans CJK SC"/>
                <a:ea typeface="Noto Sans CJK SC"/>
              </a:rPr>
              <a:t>执行入口与计算步骤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9552" y="4462272"/>
            <a:ext cx="2734056" cy="630936"/>
          </a:xfrm>
          <a:prstGeom prst="roundRect">
            <a:avLst>
              <a:gd name="adj" fmla="val 8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52628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样例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572000"/>
            <a:ext cx="18653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83247"/>
                </a:solidFill>
                <a:latin typeface="Noto Sans CJK SC"/>
                <a:ea typeface="Noto Sans CJK SC"/>
              </a:rPr>
              <a:t>预期结果与核对方法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462272"/>
            <a:ext cx="2734056" cy="630936"/>
          </a:xfrm>
          <a:prstGeom prst="roundRect">
            <a:avLst>
              <a:gd name="adj" fmla="val 8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86216" y="452628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模板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4572000"/>
            <a:ext cx="18653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83247"/>
                </a:solidFill>
                <a:latin typeface="Noto Sans CJK SC"/>
                <a:ea typeface="Noto Sans CJK SC"/>
              </a:rPr>
              <a:t>表格与报告输出规范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669280"/>
            <a:ext cx="11000232" cy="557784"/>
          </a:xfrm>
          <a:prstGeom prst="roundRect">
            <a:avLst>
              <a:gd name="adj" fmla="val 12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760720"/>
            <a:ext cx="10579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68F91"/>
                </a:solidFill>
                <a:latin typeface="Noto Sans CJK SC"/>
                <a:ea typeface="Noto Sans CJK SC"/>
              </a:rPr>
              <a:t>Skill保存方法与资源；加载它不会重新训练模型，结果仍需验收。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19963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617487"/>
                </a:solidFill>
                <a:latin typeface="Noto Sans CJK SC"/>
                <a:ea typeface="Noto Sans CJK SC"/>
                <a:hlinkClick r:id="rId3"/>
              </a:rPr>
              <a:t>来源：OpenAI官方技能文档、OpenCode Skills；示例内容为本次分享的教学设计。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33472"/>
            <a:ext cx="10363169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lang="zh-CN">
                <a:solidFill>
                  <a:srgbClr val="FFFFFF"/>
                </a:solidFill>
                <a:latin typeface="Noto Sans CJK SC"/>
                <a:ea typeface="Noto Sans CJK SC"/>
              </a:rPr>
              <a:t>案例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33472"/>
            <a:ext cx="10363169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lang="zh-CN">
                <a:solidFill>
                  <a:srgbClr val="FFFFFF"/>
                </a:solidFill>
                <a:latin typeface="DejaVu Sans"/>
                <a:ea typeface="DejaVu Sans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AI辅助科研：从自然语言需求到可复用的数据处理流程</dc:title>
  <dc:subject>面向非计算机同事的 OpenCode、Skill、Python 与 Excel 实用入门</dc:subject>
  <dc:creator>科研应用分享</dc:creator>
  <cp:keywords>AI, 科研, OpenCode, Skill, Python, Excel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